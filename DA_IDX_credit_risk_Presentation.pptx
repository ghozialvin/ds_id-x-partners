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Agrandir Bold" charset="1" panose="00000800000000000000"/>
      <p:regular r:id="rId16"/>
    </p:embeddedFont>
    <p:embeddedFont>
      <p:font typeface="Poppins" charset="1" panose="00000500000000000000"/>
      <p:regular r:id="rId17"/>
    </p:embeddedFont>
    <p:embeddedFont>
      <p:font typeface="Poppins Bold" charset="1" panose="00000800000000000000"/>
      <p:regular r:id="rId18"/>
    </p:embeddedFont>
    <p:embeddedFont>
      <p:font typeface="Poppins Italics" charset="1" panose="00000500000000000000"/>
      <p:regular r:id="rId19"/>
    </p:embeddedFont>
    <p:embeddedFont>
      <p:font typeface="Canva Sans" charset="1" panose="020B0503030501040103"/>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 Id="rId6" Target="../media/image7.png" Type="http://schemas.openxmlformats.org/officeDocument/2006/relationships/image"/><Relationship Id="rId7" Target="../media/image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9.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0.png" Type="http://schemas.openxmlformats.org/officeDocument/2006/relationships/image"/><Relationship Id="rId5" Target="../media/image1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7.png" Type="http://schemas.openxmlformats.org/officeDocument/2006/relationships/image"/><Relationship Id="rId5" Target="../media/image1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https://github.com/Ghozialvin/DS_ID-X-Partners" TargetMode="External" Type="http://schemas.openxmlformats.org/officeDocument/2006/relationships/hyperlink"/></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grpSp>
        <p:nvGrpSpPr>
          <p:cNvPr name="Group 2" id="2"/>
          <p:cNvGrpSpPr/>
          <p:nvPr/>
        </p:nvGrpSpPr>
        <p:grpSpPr>
          <a:xfrm rot="5400000">
            <a:off x="12300952" y="-1004276"/>
            <a:ext cx="3058942" cy="10766318"/>
            <a:chOff x="0" y="0"/>
            <a:chExt cx="805647" cy="2835573"/>
          </a:xfrm>
        </p:grpSpPr>
        <p:sp>
          <p:nvSpPr>
            <p:cNvPr name="Freeform 3" id="3"/>
            <p:cNvSpPr/>
            <p:nvPr/>
          </p:nvSpPr>
          <p:spPr>
            <a:xfrm flipH="false" flipV="false" rot="0">
              <a:off x="0" y="0"/>
              <a:ext cx="805647" cy="2835573"/>
            </a:xfrm>
            <a:custGeom>
              <a:avLst/>
              <a:gdLst/>
              <a:ahLst/>
              <a:cxnLst/>
              <a:rect r="r" b="b" t="t" l="l"/>
              <a:pathLst>
                <a:path h="2835573" w="805647">
                  <a:moveTo>
                    <a:pt x="202473" y="0"/>
                  </a:moveTo>
                  <a:lnTo>
                    <a:pt x="603174" y="0"/>
                  </a:lnTo>
                  <a:cubicBezTo>
                    <a:pt x="714997" y="0"/>
                    <a:pt x="805647" y="90650"/>
                    <a:pt x="805647" y="202473"/>
                  </a:cubicBezTo>
                  <a:lnTo>
                    <a:pt x="805647" y="2633100"/>
                  </a:lnTo>
                  <a:cubicBezTo>
                    <a:pt x="805647" y="2686800"/>
                    <a:pt x="784315" y="2738299"/>
                    <a:pt x="746344" y="2776270"/>
                  </a:cubicBezTo>
                  <a:cubicBezTo>
                    <a:pt x="708373" y="2814242"/>
                    <a:pt x="656873" y="2835573"/>
                    <a:pt x="603174" y="2835573"/>
                  </a:cubicBezTo>
                  <a:lnTo>
                    <a:pt x="202473" y="2835573"/>
                  </a:lnTo>
                  <a:cubicBezTo>
                    <a:pt x="90650" y="2835573"/>
                    <a:pt x="0" y="2744923"/>
                    <a:pt x="0" y="2633100"/>
                  </a:cubicBezTo>
                  <a:lnTo>
                    <a:pt x="0" y="202473"/>
                  </a:lnTo>
                  <a:cubicBezTo>
                    <a:pt x="0" y="90650"/>
                    <a:pt x="90650" y="0"/>
                    <a:pt x="202473" y="0"/>
                  </a:cubicBezTo>
                  <a:close/>
                </a:path>
              </a:pathLst>
            </a:custGeom>
            <a:gradFill rotWithShape="true">
              <a:gsLst>
                <a:gs pos="0">
                  <a:srgbClr val="DBED92">
                    <a:alpha val="100000"/>
                  </a:srgbClr>
                </a:gs>
                <a:gs pos="100000">
                  <a:srgbClr val="89D957">
                    <a:alpha val="100000"/>
                  </a:srgbClr>
                </a:gs>
              </a:gsLst>
              <a:lin ang="2700000"/>
            </a:gradFill>
          </p:spPr>
        </p:sp>
        <p:sp>
          <p:nvSpPr>
            <p:cNvPr name="TextBox 4" id="4"/>
            <p:cNvSpPr txBox="true"/>
            <p:nvPr/>
          </p:nvSpPr>
          <p:spPr>
            <a:xfrm>
              <a:off x="0" y="-57150"/>
              <a:ext cx="805647" cy="2892723"/>
            </a:xfrm>
            <a:prstGeom prst="rect">
              <a:avLst/>
            </a:prstGeom>
          </p:spPr>
          <p:txBody>
            <a:bodyPr anchor="ctr" rtlCol="false" tIns="50800" lIns="50800" bIns="50800" rIns="50800"/>
            <a:lstStyle/>
            <a:p>
              <a:pPr algn="ctr">
                <a:lnSpc>
                  <a:spcPts val="2799"/>
                </a:lnSpc>
              </a:pPr>
            </a:p>
          </p:txBody>
        </p:sp>
      </p:grpSp>
      <p:sp>
        <p:nvSpPr>
          <p:cNvPr name="Freeform 5" id="5"/>
          <p:cNvSpPr/>
          <p:nvPr/>
        </p:nvSpPr>
        <p:spPr>
          <a:xfrm flipH="false" flipV="false" rot="0">
            <a:off x="2757795" y="3564982"/>
            <a:ext cx="5468379" cy="4941426"/>
          </a:xfrm>
          <a:custGeom>
            <a:avLst/>
            <a:gdLst/>
            <a:ahLst/>
            <a:cxnLst/>
            <a:rect r="r" b="b" t="t" l="l"/>
            <a:pathLst>
              <a:path h="4941426" w="5468379">
                <a:moveTo>
                  <a:pt x="0" y="0"/>
                </a:moveTo>
                <a:lnTo>
                  <a:pt x="5468379" y="0"/>
                </a:lnTo>
                <a:lnTo>
                  <a:pt x="5468379" y="4941427"/>
                </a:lnTo>
                <a:lnTo>
                  <a:pt x="0" y="49414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0" y="-1290180"/>
            <a:ext cx="2007145" cy="2905078"/>
          </a:xfrm>
          <a:custGeom>
            <a:avLst/>
            <a:gdLst/>
            <a:ahLst/>
            <a:cxnLst/>
            <a:rect r="r" b="b" t="t" l="l"/>
            <a:pathLst>
              <a:path h="2905078" w="2007145">
                <a:moveTo>
                  <a:pt x="0" y="0"/>
                </a:moveTo>
                <a:lnTo>
                  <a:pt x="2007145" y="0"/>
                </a:lnTo>
                <a:lnTo>
                  <a:pt x="2007145" y="2905079"/>
                </a:lnTo>
                <a:lnTo>
                  <a:pt x="0" y="29050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25127" y="2707049"/>
            <a:ext cx="2007145" cy="2905078"/>
          </a:xfrm>
          <a:custGeom>
            <a:avLst/>
            <a:gdLst/>
            <a:ahLst/>
            <a:cxnLst/>
            <a:rect r="r" b="b" t="t" l="l"/>
            <a:pathLst>
              <a:path h="2905078" w="2007145">
                <a:moveTo>
                  <a:pt x="0" y="0"/>
                </a:moveTo>
                <a:lnTo>
                  <a:pt x="2007146" y="0"/>
                </a:lnTo>
                <a:lnTo>
                  <a:pt x="2007146" y="2905078"/>
                </a:lnTo>
                <a:lnTo>
                  <a:pt x="0" y="29050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0" y="710868"/>
            <a:ext cx="2007145" cy="2905078"/>
          </a:xfrm>
          <a:custGeom>
            <a:avLst/>
            <a:gdLst/>
            <a:ahLst/>
            <a:cxnLst/>
            <a:rect r="r" b="b" t="t" l="l"/>
            <a:pathLst>
              <a:path h="2905078" w="2007145">
                <a:moveTo>
                  <a:pt x="0" y="0"/>
                </a:moveTo>
                <a:lnTo>
                  <a:pt x="2007145" y="0"/>
                </a:lnTo>
                <a:lnTo>
                  <a:pt x="2007145" y="2905078"/>
                </a:lnTo>
                <a:lnTo>
                  <a:pt x="0" y="29050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25127" y="4708096"/>
            <a:ext cx="2007145" cy="2905078"/>
          </a:xfrm>
          <a:custGeom>
            <a:avLst/>
            <a:gdLst/>
            <a:ahLst/>
            <a:cxnLst/>
            <a:rect r="r" b="b" t="t" l="l"/>
            <a:pathLst>
              <a:path h="2905078" w="2007145">
                <a:moveTo>
                  <a:pt x="0" y="0"/>
                </a:moveTo>
                <a:lnTo>
                  <a:pt x="2007146" y="0"/>
                </a:lnTo>
                <a:lnTo>
                  <a:pt x="2007146" y="2905079"/>
                </a:lnTo>
                <a:lnTo>
                  <a:pt x="0" y="29050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25127" y="6671054"/>
            <a:ext cx="2007145" cy="2905078"/>
          </a:xfrm>
          <a:custGeom>
            <a:avLst/>
            <a:gdLst/>
            <a:ahLst/>
            <a:cxnLst/>
            <a:rect r="r" b="b" t="t" l="l"/>
            <a:pathLst>
              <a:path h="2905078" w="2007145">
                <a:moveTo>
                  <a:pt x="0" y="0"/>
                </a:moveTo>
                <a:lnTo>
                  <a:pt x="2007146" y="0"/>
                </a:lnTo>
                <a:lnTo>
                  <a:pt x="2007146" y="2905078"/>
                </a:lnTo>
                <a:lnTo>
                  <a:pt x="0" y="29050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25127" y="8672101"/>
            <a:ext cx="2007145" cy="2905078"/>
          </a:xfrm>
          <a:custGeom>
            <a:avLst/>
            <a:gdLst/>
            <a:ahLst/>
            <a:cxnLst/>
            <a:rect r="r" b="b" t="t" l="l"/>
            <a:pathLst>
              <a:path h="2905078" w="2007145">
                <a:moveTo>
                  <a:pt x="0" y="0"/>
                </a:moveTo>
                <a:lnTo>
                  <a:pt x="2007146" y="0"/>
                </a:lnTo>
                <a:lnTo>
                  <a:pt x="2007146" y="2905079"/>
                </a:lnTo>
                <a:lnTo>
                  <a:pt x="0" y="29050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8978649" y="3429558"/>
            <a:ext cx="8783460" cy="1938656"/>
          </a:xfrm>
          <a:prstGeom prst="rect">
            <a:avLst/>
          </a:prstGeom>
        </p:spPr>
        <p:txBody>
          <a:bodyPr anchor="t" rtlCol="false" tIns="0" lIns="0" bIns="0" rIns="0">
            <a:spAutoFit/>
          </a:bodyPr>
          <a:lstStyle/>
          <a:p>
            <a:pPr algn="l">
              <a:lnSpc>
                <a:spcPts val="4700"/>
              </a:lnSpc>
            </a:pPr>
            <a:r>
              <a:rPr lang="en-US" sz="4700" b="true">
                <a:solidFill>
                  <a:srgbClr val="000000"/>
                </a:solidFill>
                <a:latin typeface="Agrandir Bold"/>
                <a:ea typeface="Agrandir Bold"/>
                <a:cs typeface="Agrandir Bold"/>
                <a:sym typeface="Agrandir Bold"/>
              </a:rPr>
              <a:t>Implementasi Machine Learning untuk Pred</a:t>
            </a:r>
            <a:r>
              <a:rPr lang="en-US" sz="4700" b="true">
                <a:solidFill>
                  <a:srgbClr val="000000"/>
                </a:solidFill>
                <a:latin typeface="Agrandir Bold"/>
                <a:ea typeface="Agrandir Bold"/>
                <a:cs typeface="Agrandir Bold"/>
                <a:sym typeface="Agrandir Bold"/>
              </a:rPr>
              <a:t>iksi Risiko Kredit (Credit Risk Scoring)</a:t>
            </a:r>
          </a:p>
        </p:txBody>
      </p:sp>
      <p:sp>
        <p:nvSpPr>
          <p:cNvPr name="TextBox 13" id="13"/>
          <p:cNvSpPr txBox="true"/>
          <p:nvPr/>
        </p:nvSpPr>
        <p:spPr>
          <a:xfrm rot="0">
            <a:off x="9514990" y="6074911"/>
            <a:ext cx="8247120" cy="1128396"/>
          </a:xfrm>
          <a:prstGeom prst="rect">
            <a:avLst/>
          </a:prstGeom>
        </p:spPr>
        <p:txBody>
          <a:bodyPr anchor="t" rtlCol="false" tIns="0" lIns="0" bIns="0" rIns="0">
            <a:spAutoFit/>
          </a:bodyPr>
          <a:lstStyle/>
          <a:p>
            <a:pPr algn="ctr">
              <a:lnSpc>
                <a:spcPts val="4479"/>
              </a:lnSpc>
            </a:pPr>
            <a:r>
              <a:rPr lang="en-US" sz="3199">
                <a:solidFill>
                  <a:srgbClr val="000000"/>
                </a:solidFill>
                <a:latin typeface="Poppins"/>
                <a:ea typeface="Poppins"/>
                <a:cs typeface="Poppins"/>
                <a:sym typeface="Poppins"/>
              </a:rPr>
              <a:t>Final Task Data Analyst Id/x Partners </a:t>
            </a:r>
          </a:p>
          <a:p>
            <a:pPr algn="ctr">
              <a:lnSpc>
                <a:spcPts val="4479"/>
              </a:lnSpc>
            </a:pPr>
            <a:r>
              <a:rPr lang="en-US" sz="3199">
                <a:solidFill>
                  <a:srgbClr val="000000"/>
                </a:solidFill>
                <a:latin typeface="Poppins"/>
                <a:ea typeface="Poppins"/>
                <a:cs typeface="Poppins"/>
                <a:sym typeface="Poppins"/>
              </a:rPr>
              <a:t>- Pred</a:t>
            </a:r>
            <a:r>
              <a:rPr lang="en-US" sz="3199">
                <a:solidFill>
                  <a:srgbClr val="000000"/>
                </a:solidFill>
                <a:latin typeface="Poppins"/>
                <a:ea typeface="Poppins"/>
                <a:cs typeface="Poppins"/>
                <a:sym typeface="Poppins"/>
              </a:rPr>
              <a:t>iction Model-</a:t>
            </a:r>
          </a:p>
        </p:txBody>
      </p:sp>
      <p:sp>
        <p:nvSpPr>
          <p:cNvPr name="TextBox 14" id="14"/>
          <p:cNvSpPr txBox="true"/>
          <p:nvPr/>
        </p:nvSpPr>
        <p:spPr>
          <a:xfrm rot="0">
            <a:off x="7627103" y="8960485"/>
            <a:ext cx="3775774" cy="509905"/>
          </a:xfrm>
          <a:prstGeom prst="rect">
            <a:avLst/>
          </a:prstGeom>
        </p:spPr>
        <p:txBody>
          <a:bodyPr anchor="t" rtlCol="false" tIns="0" lIns="0" bIns="0" rIns="0">
            <a:spAutoFit/>
          </a:bodyPr>
          <a:lstStyle/>
          <a:p>
            <a:pPr algn="ctr">
              <a:lnSpc>
                <a:spcPts val="3919"/>
              </a:lnSpc>
            </a:pPr>
            <a:r>
              <a:rPr lang="en-US" sz="2799" b="true">
                <a:solidFill>
                  <a:srgbClr val="000000"/>
                </a:solidFill>
                <a:latin typeface="Poppins Bold"/>
                <a:ea typeface="Poppins Bold"/>
                <a:cs typeface="Poppins Bold"/>
                <a:sym typeface="Poppins Bold"/>
              </a:rPr>
              <a:t>Ghozi Alvin Karim</a:t>
            </a:r>
          </a:p>
        </p:txBody>
      </p:sp>
      <p:grpSp>
        <p:nvGrpSpPr>
          <p:cNvPr name="Group 15" id="15"/>
          <p:cNvGrpSpPr/>
          <p:nvPr/>
        </p:nvGrpSpPr>
        <p:grpSpPr>
          <a:xfrm rot="0">
            <a:off x="7823325" y="9504695"/>
            <a:ext cx="3376858" cy="142875"/>
            <a:chOff x="0" y="0"/>
            <a:chExt cx="928247" cy="39274"/>
          </a:xfrm>
        </p:grpSpPr>
        <p:sp>
          <p:nvSpPr>
            <p:cNvPr name="Freeform 16" id="16"/>
            <p:cNvSpPr/>
            <p:nvPr/>
          </p:nvSpPr>
          <p:spPr>
            <a:xfrm flipH="false" flipV="false" rot="0">
              <a:off x="0" y="0"/>
              <a:ext cx="928247" cy="39274"/>
            </a:xfrm>
            <a:custGeom>
              <a:avLst/>
              <a:gdLst/>
              <a:ahLst/>
              <a:cxnLst/>
              <a:rect r="r" b="b" t="t" l="l"/>
              <a:pathLst>
                <a:path h="39274" w="928247">
                  <a:moveTo>
                    <a:pt x="0" y="0"/>
                  </a:moveTo>
                  <a:lnTo>
                    <a:pt x="928247" y="0"/>
                  </a:lnTo>
                  <a:lnTo>
                    <a:pt x="928247" y="39274"/>
                  </a:lnTo>
                  <a:lnTo>
                    <a:pt x="0" y="39274"/>
                  </a:lnTo>
                  <a:close/>
                </a:path>
              </a:pathLst>
            </a:custGeom>
            <a:solidFill>
              <a:srgbClr val="85C0C6"/>
            </a:solidFill>
          </p:spPr>
        </p:sp>
        <p:sp>
          <p:nvSpPr>
            <p:cNvPr name="TextBox 17" id="17"/>
            <p:cNvSpPr txBox="true"/>
            <p:nvPr/>
          </p:nvSpPr>
          <p:spPr>
            <a:xfrm>
              <a:off x="0" y="-28575"/>
              <a:ext cx="928247" cy="67849"/>
            </a:xfrm>
            <a:prstGeom prst="rect">
              <a:avLst/>
            </a:prstGeom>
          </p:spPr>
          <p:txBody>
            <a:bodyPr anchor="ctr" rtlCol="false" tIns="50800" lIns="50800" bIns="50800" rIns="50800"/>
            <a:lstStyle/>
            <a:p>
              <a:pPr algn="ctr">
                <a:lnSpc>
                  <a:spcPts val="2366"/>
                </a:lnSpc>
              </a:pPr>
            </a:p>
          </p:txBody>
        </p:sp>
      </p:grpSp>
      <p:grpSp>
        <p:nvGrpSpPr>
          <p:cNvPr name="Group 18" id="18"/>
          <p:cNvGrpSpPr/>
          <p:nvPr/>
        </p:nvGrpSpPr>
        <p:grpSpPr>
          <a:xfrm rot="0">
            <a:off x="9822227" y="7203306"/>
            <a:ext cx="7629091" cy="142875"/>
            <a:chOff x="0" y="0"/>
            <a:chExt cx="2097121" cy="39274"/>
          </a:xfrm>
        </p:grpSpPr>
        <p:sp>
          <p:nvSpPr>
            <p:cNvPr name="Freeform 19" id="19"/>
            <p:cNvSpPr/>
            <p:nvPr/>
          </p:nvSpPr>
          <p:spPr>
            <a:xfrm flipH="false" flipV="false" rot="0">
              <a:off x="0" y="0"/>
              <a:ext cx="2097121" cy="39274"/>
            </a:xfrm>
            <a:custGeom>
              <a:avLst/>
              <a:gdLst/>
              <a:ahLst/>
              <a:cxnLst/>
              <a:rect r="r" b="b" t="t" l="l"/>
              <a:pathLst>
                <a:path h="39274" w="2097121">
                  <a:moveTo>
                    <a:pt x="0" y="0"/>
                  </a:moveTo>
                  <a:lnTo>
                    <a:pt x="2097121" y="0"/>
                  </a:lnTo>
                  <a:lnTo>
                    <a:pt x="2097121" y="39274"/>
                  </a:lnTo>
                  <a:lnTo>
                    <a:pt x="0" y="39274"/>
                  </a:lnTo>
                  <a:close/>
                </a:path>
              </a:pathLst>
            </a:custGeom>
            <a:solidFill>
              <a:srgbClr val="85C0C6"/>
            </a:solidFill>
          </p:spPr>
        </p:sp>
        <p:sp>
          <p:nvSpPr>
            <p:cNvPr name="TextBox 20" id="20"/>
            <p:cNvSpPr txBox="true"/>
            <p:nvPr/>
          </p:nvSpPr>
          <p:spPr>
            <a:xfrm>
              <a:off x="0" y="-28575"/>
              <a:ext cx="2097121" cy="67849"/>
            </a:xfrm>
            <a:prstGeom prst="rect">
              <a:avLst/>
            </a:prstGeom>
          </p:spPr>
          <p:txBody>
            <a:bodyPr anchor="ctr" rtlCol="false" tIns="50800" lIns="50800" bIns="50800" rIns="50800"/>
            <a:lstStyle/>
            <a:p>
              <a:pPr algn="ctr">
                <a:lnSpc>
                  <a:spcPts val="2366"/>
                </a:lnSpc>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792109" y="8595776"/>
            <a:ext cx="2007145" cy="2905078"/>
          </a:xfrm>
          <a:custGeom>
            <a:avLst/>
            <a:gdLst/>
            <a:ahLst/>
            <a:cxnLst/>
            <a:rect r="r" b="b" t="t" l="l"/>
            <a:pathLst>
              <a:path h="2905078" w="2007145">
                <a:moveTo>
                  <a:pt x="0" y="0"/>
                </a:moveTo>
                <a:lnTo>
                  <a:pt x="2007145" y="0"/>
                </a:lnTo>
                <a:lnTo>
                  <a:pt x="2007145" y="2905079"/>
                </a:lnTo>
                <a:lnTo>
                  <a:pt x="0" y="29050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1131478" y="8570649"/>
            <a:ext cx="2007145" cy="2905078"/>
          </a:xfrm>
          <a:custGeom>
            <a:avLst/>
            <a:gdLst/>
            <a:ahLst/>
            <a:cxnLst/>
            <a:rect r="r" b="b" t="t" l="l"/>
            <a:pathLst>
              <a:path h="2905078" w="2007145">
                <a:moveTo>
                  <a:pt x="0" y="0"/>
                </a:moveTo>
                <a:lnTo>
                  <a:pt x="2007145" y="0"/>
                </a:lnTo>
                <a:lnTo>
                  <a:pt x="2007145" y="2905079"/>
                </a:lnTo>
                <a:lnTo>
                  <a:pt x="0" y="29050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3205120" y="8570649"/>
            <a:ext cx="2007145" cy="2905078"/>
          </a:xfrm>
          <a:custGeom>
            <a:avLst/>
            <a:gdLst/>
            <a:ahLst/>
            <a:cxnLst/>
            <a:rect r="r" b="b" t="t" l="l"/>
            <a:pathLst>
              <a:path h="2905078" w="2007145">
                <a:moveTo>
                  <a:pt x="0" y="0"/>
                </a:moveTo>
                <a:lnTo>
                  <a:pt x="2007145" y="0"/>
                </a:lnTo>
                <a:lnTo>
                  <a:pt x="2007145" y="2905079"/>
                </a:lnTo>
                <a:lnTo>
                  <a:pt x="0" y="29050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5400000">
            <a:off x="15128707" y="8545522"/>
            <a:ext cx="2007145" cy="2905078"/>
          </a:xfrm>
          <a:custGeom>
            <a:avLst/>
            <a:gdLst/>
            <a:ahLst/>
            <a:cxnLst/>
            <a:rect r="r" b="b" t="t" l="l"/>
            <a:pathLst>
              <a:path h="2905078" w="2007145">
                <a:moveTo>
                  <a:pt x="0" y="0"/>
                </a:moveTo>
                <a:lnTo>
                  <a:pt x="2007145" y="0"/>
                </a:lnTo>
                <a:lnTo>
                  <a:pt x="2007145" y="2905078"/>
                </a:lnTo>
                <a:lnTo>
                  <a:pt x="0" y="29050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5400000">
            <a:off x="1208939" y="8595776"/>
            <a:ext cx="2007145" cy="2905078"/>
          </a:xfrm>
          <a:custGeom>
            <a:avLst/>
            <a:gdLst/>
            <a:ahLst/>
            <a:cxnLst/>
            <a:rect r="r" b="b" t="t" l="l"/>
            <a:pathLst>
              <a:path h="2905078" w="2007145">
                <a:moveTo>
                  <a:pt x="0" y="0"/>
                </a:moveTo>
                <a:lnTo>
                  <a:pt x="2007145" y="0"/>
                </a:lnTo>
                <a:lnTo>
                  <a:pt x="2007145" y="2905079"/>
                </a:lnTo>
                <a:lnTo>
                  <a:pt x="0" y="29050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5400000">
            <a:off x="13132526" y="8570649"/>
            <a:ext cx="2007145" cy="2905078"/>
          </a:xfrm>
          <a:custGeom>
            <a:avLst/>
            <a:gdLst/>
            <a:ahLst/>
            <a:cxnLst/>
            <a:rect r="r" b="b" t="t" l="l"/>
            <a:pathLst>
              <a:path h="2905078" w="2007145">
                <a:moveTo>
                  <a:pt x="0" y="0"/>
                </a:moveTo>
                <a:lnTo>
                  <a:pt x="2007145" y="0"/>
                </a:lnTo>
                <a:lnTo>
                  <a:pt x="2007145" y="2905079"/>
                </a:lnTo>
                <a:lnTo>
                  <a:pt x="0" y="29050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5400000">
            <a:off x="5206167" y="8570649"/>
            <a:ext cx="2007145" cy="2905078"/>
          </a:xfrm>
          <a:custGeom>
            <a:avLst/>
            <a:gdLst/>
            <a:ahLst/>
            <a:cxnLst/>
            <a:rect r="r" b="b" t="t" l="l"/>
            <a:pathLst>
              <a:path h="2905078" w="2007145">
                <a:moveTo>
                  <a:pt x="0" y="0"/>
                </a:moveTo>
                <a:lnTo>
                  <a:pt x="2007146" y="0"/>
                </a:lnTo>
                <a:lnTo>
                  <a:pt x="2007146" y="2905079"/>
                </a:lnTo>
                <a:lnTo>
                  <a:pt x="0" y="29050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5400000">
            <a:off x="17129754" y="8545522"/>
            <a:ext cx="2007145" cy="2905078"/>
          </a:xfrm>
          <a:custGeom>
            <a:avLst/>
            <a:gdLst/>
            <a:ahLst/>
            <a:cxnLst/>
            <a:rect r="r" b="b" t="t" l="l"/>
            <a:pathLst>
              <a:path h="2905078" w="2007145">
                <a:moveTo>
                  <a:pt x="0" y="0"/>
                </a:moveTo>
                <a:lnTo>
                  <a:pt x="2007146" y="0"/>
                </a:lnTo>
                <a:lnTo>
                  <a:pt x="2007146" y="2905078"/>
                </a:lnTo>
                <a:lnTo>
                  <a:pt x="0" y="29050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5400000">
            <a:off x="7169125" y="8570649"/>
            <a:ext cx="2007145" cy="2905078"/>
          </a:xfrm>
          <a:custGeom>
            <a:avLst/>
            <a:gdLst/>
            <a:ahLst/>
            <a:cxnLst/>
            <a:rect r="r" b="b" t="t" l="l"/>
            <a:pathLst>
              <a:path h="2905078" w="2007145">
                <a:moveTo>
                  <a:pt x="0" y="0"/>
                </a:moveTo>
                <a:lnTo>
                  <a:pt x="2007145" y="0"/>
                </a:lnTo>
                <a:lnTo>
                  <a:pt x="2007145" y="2905079"/>
                </a:lnTo>
                <a:lnTo>
                  <a:pt x="0" y="29050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5400000">
            <a:off x="9170172" y="8570649"/>
            <a:ext cx="2007145" cy="2905078"/>
          </a:xfrm>
          <a:custGeom>
            <a:avLst/>
            <a:gdLst/>
            <a:ahLst/>
            <a:cxnLst/>
            <a:rect r="r" b="b" t="t" l="l"/>
            <a:pathLst>
              <a:path h="2905078" w="2007145">
                <a:moveTo>
                  <a:pt x="0" y="0"/>
                </a:moveTo>
                <a:lnTo>
                  <a:pt x="2007146" y="0"/>
                </a:lnTo>
                <a:lnTo>
                  <a:pt x="2007146" y="2905079"/>
                </a:lnTo>
                <a:lnTo>
                  <a:pt x="0" y="29050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2" id="12"/>
          <p:cNvGrpSpPr/>
          <p:nvPr/>
        </p:nvGrpSpPr>
        <p:grpSpPr>
          <a:xfrm rot="5400000">
            <a:off x="13668192" y="-3497965"/>
            <a:ext cx="1634719" cy="9074561"/>
            <a:chOff x="0" y="0"/>
            <a:chExt cx="430543" cy="2390008"/>
          </a:xfrm>
        </p:grpSpPr>
        <p:sp>
          <p:nvSpPr>
            <p:cNvPr name="Freeform 13" id="13"/>
            <p:cNvSpPr/>
            <p:nvPr/>
          </p:nvSpPr>
          <p:spPr>
            <a:xfrm flipH="false" flipV="false" rot="0">
              <a:off x="0" y="0"/>
              <a:ext cx="430543" cy="2390008"/>
            </a:xfrm>
            <a:custGeom>
              <a:avLst/>
              <a:gdLst/>
              <a:ahLst/>
              <a:cxnLst/>
              <a:rect r="r" b="b" t="t" l="l"/>
              <a:pathLst>
                <a:path h="2390008" w="430543">
                  <a:moveTo>
                    <a:pt x="215272" y="0"/>
                  </a:moveTo>
                  <a:lnTo>
                    <a:pt x="215272" y="0"/>
                  </a:lnTo>
                  <a:cubicBezTo>
                    <a:pt x="334163" y="0"/>
                    <a:pt x="430543" y="96380"/>
                    <a:pt x="430543" y="215272"/>
                  </a:cubicBezTo>
                  <a:lnTo>
                    <a:pt x="430543" y="2174736"/>
                  </a:lnTo>
                  <a:cubicBezTo>
                    <a:pt x="430543" y="2293627"/>
                    <a:pt x="334163" y="2390008"/>
                    <a:pt x="215272" y="2390008"/>
                  </a:cubicBezTo>
                  <a:lnTo>
                    <a:pt x="215272" y="2390008"/>
                  </a:lnTo>
                  <a:cubicBezTo>
                    <a:pt x="96380" y="2390008"/>
                    <a:pt x="0" y="2293627"/>
                    <a:pt x="0" y="2174736"/>
                  </a:cubicBezTo>
                  <a:lnTo>
                    <a:pt x="0" y="215272"/>
                  </a:lnTo>
                  <a:cubicBezTo>
                    <a:pt x="0" y="96380"/>
                    <a:pt x="96380" y="0"/>
                    <a:pt x="215272" y="0"/>
                  </a:cubicBezTo>
                  <a:close/>
                </a:path>
              </a:pathLst>
            </a:custGeom>
            <a:gradFill rotWithShape="true">
              <a:gsLst>
                <a:gs pos="0">
                  <a:srgbClr val="DBED92">
                    <a:alpha val="100000"/>
                  </a:srgbClr>
                </a:gs>
                <a:gs pos="100000">
                  <a:srgbClr val="89D957">
                    <a:alpha val="100000"/>
                  </a:srgbClr>
                </a:gs>
              </a:gsLst>
              <a:lin ang="2700000"/>
            </a:gradFill>
          </p:spPr>
        </p:sp>
        <p:sp>
          <p:nvSpPr>
            <p:cNvPr name="TextBox 14" id="14"/>
            <p:cNvSpPr txBox="true"/>
            <p:nvPr/>
          </p:nvSpPr>
          <p:spPr>
            <a:xfrm>
              <a:off x="0" y="-57150"/>
              <a:ext cx="430543" cy="2447158"/>
            </a:xfrm>
            <a:prstGeom prst="rect">
              <a:avLst/>
            </a:prstGeom>
          </p:spPr>
          <p:txBody>
            <a:bodyPr anchor="ctr" rtlCol="false" tIns="50800" lIns="50800" bIns="50800" rIns="50800"/>
            <a:lstStyle/>
            <a:p>
              <a:pPr algn="ctr">
                <a:lnSpc>
                  <a:spcPts val="2799"/>
                </a:lnSpc>
              </a:pPr>
            </a:p>
          </p:txBody>
        </p:sp>
      </p:grpSp>
      <p:sp>
        <p:nvSpPr>
          <p:cNvPr name="TextBox 15" id="15"/>
          <p:cNvSpPr txBox="true"/>
          <p:nvPr/>
        </p:nvSpPr>
        <p:spPr>
          <a:xfrm rot="0">
            <a:off x="10570824" y="411162"/>
            <a:ext cx="6688476" cy="1111250"/>
          </a:xfrm>
          <a:prstGeom prst="rect">
            <a:avLst/>
          </a:prstGeom>
        </p:spPr>
        <p:txBody>
          <a:bodyPr anchor="t" rtlCol="false" tIns="0" lIns="0" bIns="0" rIns="0">
            <a:spAutoFit/>
          </a:bodyPr>
          <a:lstStyle/>
          <a:p>
            <a:pPr algn="l">
              <a:lnSpc>
                <a:spcPts val="7150"/>
              </a:lnSpc>
            </a:pPr>
            <a:r>
              <a:rPr lang="en-US" sz="6500" b="true">
                <a:solidFill>
                  <a:srgbClr val="0B0A0A"/>
                </a:solidFill>
                <a:latin typeface="Agrandir Bold"/>
                <a:ea typeface="Agrandir Bold"/>
                <a:cs typeface="Agrandir Bold"/>
                <a:sym typeface="Agrandir Bold"/>
              </a:rPr>
              <a:t> Latar Belakang</a:t>
            </a:r>
          </a:p>
        </p:txBody>
      </p:sp>
      <p:sp>
        <p:nvSpPr>
          <p:cNvPr name="Freeform 16" id="16"/>
          <p:cNvSpPr/>
          <p:nvPr/>
        </p:nvSpPr>
        <p:spPr>
          <a:xfrm flipH="false" flipV="false" rot="0">
            <a:off x="434605" y="2377897"/>
            <a:ext cx="4643096" cy="5688326"/>
          </a:xfrm>
          <a:custGeom>
            <a:avLst/>
            <a:gdLst/>
            <a:ahLst/>
            <a:cxnLst/>
            <a:rect r="r" b="b" t="t" l="l"/>
            <a:pathLst>
              <a:path h="5688326" w="4643096">
                <a:moveTo>
                  <a:pt x="0" y="0"/>
                </a:moveTo>
                <a:lnTo>
                  <a:pt x="4643096" y="0"/>
                </a:lnTo>
                <a:lnTo>
                  <a:pt x="4643096" y="5688326"/>
                </a:lnTo>
                <a:lnTo>
                  <a:pt x="0" y="5688326"/>
                </a:lnTo>
                <a:lnTo>
                  <a:pt x="0" y="0"/>
                </a:lnTo>
                <a:close/>
              </a:path>
            </a:pathLst>
          </a:custGeom>
          <a:blipFill>
            <a:blip r:embed="rId4"/>
            <a:stretch>
              <a:fillRect l="0" t="0" r="0" b="0"/>
            </a:stretch>
          </a:blipFill>
        </p:spPr>
      </p:sp>
      <p:sp>
        <p:nvSpPr>
          <p:cNvPr name="TextBox 17" id="17"/>
          <p:cNvSpPr txBox="true"/>
          <p:nvPr/>
        </p:nvSpPr>
        <p:spPr>
          <a:xfrm rot="0">
            <a:off x="5489481" y="2320747"/>
            <a:ext cx="9489980" cy="1118235"/>
          </a:xfrm>
          <a:prstGeom prst="rect">
            <a:avLst/>
          </a:prstGeom>
        </p:spPr>
        <p:txBody>
          <a:bodyPr anchor="t" rtlCol="false" tIns="0" lIns="0" bIns="0" rIns="0">
            <a:spAutoFit/>
          </a:bodyPr>
          <a:lstStyle/>
          <a:p>
            <a:pPr algn="l" marL="0" indent="0" lvl="0">
              <a:lnSpc>
                <a:spcPts val="2940"/>
              </a:lnSpc>
              <a:spcBef>
                <a:spcPct val="0"/>
              </a:spcBef>
            </a:pPr>
            <a:r>
              <a:rPr lang="en-US" sz="2100" strike="noStrike" u="none">
                <a:solidFill>
                  <a:srgbClr val="0B0A0A"/>
                </a:solidFill>
                <a:latin typeface="Poppins"/>
                <a:ea typeface="Poppins"/>
                <a:cs typeface="Poppins"/>
                <a:sym typeface="Poppins"/>
              </a:rPr>
              <a:t>Perusahaan pendanaan perlu membedakan antara calon peminjam yang berisiko tinggi (gagal bayar) dan peminjam yang aman untuk menjaga stabilitas portofolio keuangan. </a:t>
            </a:r>
          </a:p>
        </p:txBody>
      </p:sp>
      <p:sp>
        <p:nvSpPr>
          <p:cNvPr name="Freeform 18" id="18"/>
          <p:cNvSpPr/>
          <p:nvPr/>
        </p:nvSpPr>
        <p:spPr>
          <a:xfrm flipH="false" flipV="false" rot="0">
            <a:off x="15149084" y="2066410"/>
            <a:ext cx="1966392" cy="1993807"/>
          </a:xfrm>
          <a:custGeom>
            <a:avLst/>
            <a:gdLst/>
            <a:ahLst/>
            <a:cxnLst/>
            <a:rect r="r" b="b" t="t" l="l"/>
            <a:pathLst>
              <a:path h="1993807" w="1966392">
                <a:moveTo>
                  <a:pt x="0" y="0"/>
                </a:moveTo>
                <a:lnTo>
                  <a:pt x="1966391" y="0"/>
                </a:lnTo>
                <a:lnTo>
                  <a:pt x="1966391" y="1993807"/>
                </a:lnTo>
                <a:lnTo>
                  <a:pt x="0" y="1993807"/>
                </a:lnTo>
                <a:lnTo>
                  <a:pt x="0" y="0"/>
                </a:lnTo>
                <a:close/>
              </a:path>
            </a:pathLst>
          </a:custGeom>
          <a:blipFill>
            <a:blip r:embed="rId5"/>
            <a:stretch>
              <a:fillRect l="0" t="0" r="0" b="0"/>
            </a:stretch>
          </a:blipFill>
        </p:spPr>
      </p:sp>
      <p:sp>
        <p:nvSpPr>
          <p:cNvPr name="TextBox 19" id="19"/>
          <p:cNvSpPr txBox="true"/>
          <p:nvPr/>
        </p:nvSpPr>
        <p:spPr>
          <a:xfrm rot="0">
            <a:off x="7490529" y="4212802"/>
            <a:ext cx="8909554" cy="1118235"/>
          </a:xfrm>
          <a:prstGeom prst="rect">
            <a:avLst/>
          </a:prstGeom>
        </p:spPr>
        <p:txBody>
          <a:bodyPr anchor="t" rtlCol="false" tIns="0" lIns="0" bIns="0" rIns="0">
            <a:spAutoFit/>
          </a:bodyPr>
          <a:lstStyle/>
          <a:p>
            <a:pPr algn="l" marL="0" indent="0" lvl="0">
              <a:lnSpc>
                <a:spcPts val="2940"/>
              </a:lnSpc>
              <a:spcBef>
                <a:spcPct val="0"/>
              </a:spcBef>
            </a:pPr>
            <a:r>
              <a:rPr lang="en-US" sz="2100" strike="noStrike" u="none">
                <a:solidFill>
                  <a:srgbClr val="0B0A0A"/>
                </a:solidFill>
                <a:latin typeface="Poppins"/>
                <a:ea typeface="Poppins"/>
                <a:cs typeface="Poppins"/>
                <a:sym typeface="Poppins"/>
              </a:rPr>
              <a:t>Proyek ini bertujuan untuk Membangun model klasifikasi biner yang mampu memprediksi apakah seorang nasabah akan masuk kategori </a:t>
            </a:r>
            <a:r>
              <a:rPr lang="en-US" b="true" sz="2100" strike="noStrike" u="none">
                <a:solidFill>
                  <a:srgbClr val="0B0A0A"/>
                </a:solidFill>
                <a:latin typeface="Poppins Bold"/>
                <a:ea typeface="Poppins Bold"/>
                <a:cs typeface="Poppins Bold"/>
                <a:sym typeface="Poppins Bold"/>
              </a:rPr>
              <a:t>"Pinjaman Baik" </a:t>
            </a:r>
            <a:r>
              <a:rPr lang="en-US" sz="2100" strike="noStrike" u="none">
                <a:solidFill>
                  <a:srgbClr val="0B0A0A"/>
                </a:solidFill>
                <a:latin typeface="Poppins"/>
                <a:ea typeface="Poppins"/>
                <a:cs typeface="Poppins"/>
                <a:sym typeface="Poppins"/>
              </a:rPr>
              <a:t>atau </a:t>
            </a:r>
            <a:r>
              <a:rPr lang="en-US" b="true" sz="2100" strike="noStrike" u="none">
                <a:solidFill>
                  <a:srgbClr val="0B0A0A"/>
                </a:solidFill>
                <a:latin typeface="Poppins Bold"/>
                <a:ea typeface="Poppins Bold"/>
                <a:cs typeface="Poppins Bold"/>
                <a:sym typeface="Poppins Bold"/>
              </a:rPr>
              <a:t>"Pinjaman Tidak Baik"</a:t>
            </a:r>
            <a:r>
              <a:rPr lang="en-US" sz="2100" strike="noStrike" u="none">
                <a:solidFill>
                  <a:srgbClr val="0B0A0A"/>
                </a:solidFill>
                <a:latin typeface="Poppins"/>
                <a:ea typeface="Poppins"/>
                <a:cs typeface="Poppins"/>
                <a:sym typeface="Poppins"/>
              </a:rPr>
              <a:t>.</a:t>
            </a:r>
          </a:p>
        </p:txBody>
      </p:sp>
      <p:sp>
        <p:nvSpPr>
          <p:cNvPr name="Freeform 20" id="20"/>
          <p:cNvSpPr/>
          <p:nvPr/>
        </p:nvSpPr>
        <p:spPr>
          <a:xfrm flipH="false" flipV="false" rot="0">
            <a:off x="5489481" y="3906613"/>
            <a:ext cx="1569536" cy="1555803"/>
          </a:xfrm>
          <a:custGeom>
            <a:avLst/>
            <a:gdLst/>
            <a:ahLst/>
            <a:cxnLst/>
            <a:rect r="r" b="b" t="t" l="l"/>
            <a:pathLst>
              <a:path h="1555803" w="1569536">
                <a:moveTo>
                  <a:pt x="0" y="0"/>
                </a:moveTo>
                <a:lnTo>
                  <a:pt x="1569536" y="0"/>
                </a:lnTo>
                <a:lnTo>
                  <a:pt x="1569536" y="1555803"/>
                </a:lnTo>
                <a:lnTo>
                  <a:pt x="0" y="1555803"/>
                </a:lnTo>
                <a:lnTo>
                  <a:pt x="0" y="0"/>
                </a:lnTo>
                <a:close/>
              </a:path>
            </a:pathLst>
          </a:custGeom>
          <a:blipFill>
            <a:blip r:embed="rId6"/>
            <a:stretch>
              <a:fillRect l="0" t="0" r="0" b="0"/>
            </a:stretch>
          </a:blipFill>
        </p:spPr>
      </p:sp>
      <p:sp>
        <p:nvSpPr>
          <p:cNvPr name="Freeform 21" id="21"/>
          <p:cNvSpPr/>
          <p:nvPr/>
        </p:nvSpPr>
        <p:spPr>
          <a:xfrm flipH="false" flipV="false" rot="0">
            <a:off x="14426969" y="5540587"/>
            <a:ext cx="2688506" cy="3210157"/>
          </a:xfrm>
          <a:custGeom>
            <a:avLst/>
            <a:gdLst/>
            <a:ahLst/>
            <a:cxnLst/>
            <a:rect r="r" b="b" t="t" l="l"/>
            <a:pathLst>
              <a:path h="3210157" w="2688506">
                <a:moveTo>
                  <a:pt x="0" y="0"/>
                </a:moveTo>
                <a:lnTo>
                  <a:pt x="2688506" y="0"/>
                </a:lnTo>
                <a:lnTo>
                  <a:pt x="2688506" y="3210156"/>
                </a:lnTo>
                <a:lnTo>
                  <a:pt x="0" y="3210156"/>
                </a:lnTo>
                <a:lnTo>
                  <a:pt x="0" y="0"/>
                </a:lnTo>
                <a:close/>
              </a:path>
            </a:pathLst>
          </a:custGeom>
          <a:blipFill>
            <a:blip r:embed="rId7"/>
            <a:stretch>
              <a:fillRect l="0" t="0" r="0" b="0"/>
            </a:stretch>
          </a:blipFill>
        </p:spPr>
      </p:sp>
      <p:sp>
        <p:nvSpPr>
          <p:cNvPr name="TextBox 22" id="22"/>
          <p:cNvSpPr txBox="true"/>
          <p:nvPr/>
        </p:nvSpPr>
        <p:spPr>
          <a:xfrm rot="0">
            <a:off x="5829878" y="6027430"/>
            <a:ext cx="8236787" cy="1118235"/>
          </a:xfrm>
          <a:prstGeom prst="rect">
            <a:avLst/>
          </a:prstGeom>
        </p:spPr>
        <p:txBody>
          <a:bodyPr anchor="t" rtlCol="false" tIns="0" lIns="0" bIns="0" rIns="0">
            <a:spAutoFit/>
          </a:bodyPr>
          <a:lstStyle/>
          <a:p>
            <a:pPr algn="l" marL="0" indent="0" lvl="0">
              <a:lnSpc>
                <a:spcPts val="2940"/>
              </a:lnSpc>
              <a:spcBef>
                <a:spcPct val="0"/>
              </a:spcBef>
            </a:pPr>
            <a:r>
              <a:rPr lang="en-US" sz="2100" strike="noStrike" u="none">
                <a:solidFill>
                  <a:srgbClr val="0B0A0A"/>
                </a:solidFill>
                <a:latin typeface="Poppins"/>
                <a:ea typeface="Poppins"/>
                <a:cs typeface="Poppins"/>
                <a:sym typeface="Poppins"/>
              </a:rPr>
              <a:t>Menggunakan metodologi End-to-End Data Science, mulai dari pembersihan data (466rb+ baris), rekayasa fitur, hingga implementasi pipeline machine learning otomatis.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grpSp>
        <p:nvGrpSpPr>
          <p:cNvPr name="Group 2" id="2"/>
          <p:cNvGrpSpPr/>
          <p:nvPr/>
        </p:nvGrpSpPr>
        <p:grpSpPr>
          <a:xfrm rot="5400000">
            <a:off x="824935" y="-3371913"/>
            <a:ext cx="1760958" cy="9464497"/>
            <a:chOff x="0" y="0"/>
            <a:chExt cx="463791" cy="2492707"/>
          </a:xfrm>
        </p:grpSpPr>
        <p:sp>
          <p:nvSpPr>
            <p:cNvPr name="Freeform 3" id="3"/>
            <p:cNvSpPr/>
            <p:nvPr/>
          </p:nvSpPr>
          <p:spPr>
            <a:xfrm flipH="false" flipV="false" rot="0">
              <a:off x="0" y="0"/>
              <a:ext cx="463791" cy="2492707"/>
            </a:xfrm>
            <a:custGeom>
              <a:avLst/>
              <a:gdLst/>
              <a:ahLst/>
              <a:cxnLst/>
              <a:rect r="r" b="b" t="t" l="l"/>
              <a:pathLst>
                <a:path h="2492707" w="463791">
                  <a:moveTo>
                    <a:pt x="231896" y="0"/>
                  </a:moveTo>
                  <a:lnTo>
                    <a:pt x="231896" y="0"/>
                  </a:lnTo>
                  <a:cubicBezTo>
                    <a:pt x="359968" y="0"/>
                    <a:pt x="463791" y="103823"/>
                    <a:pt x="463791" y="231896"/>
                  </a:cubicBezTo>
                  <a:lnTo>
                    <a:pt x="463791" y="2260811"/>
                  </a:lnTo>
                  <a:cubicBezTo>
                    <a:pt x="463791" y="2388884"/>
                    <a:pt x="359968" y="2492707"/>
                    <a:pt x="231896" y="2492707"/>
                  </a:cubicBezTo>
                  <a:lnTo>
                    <a:pt x="231896" y="2492707"/>
                  </a:lnTo>
                  <a:cubicBezTo>
                    <a:pt x="103823" y="2492707"/>
                    <a:pt x="0" y="2388884"/>
                    <a:pt x="0" y="2260811"/>
                  </a:cubicBezTo>
                  <a:lnTo>
                    <a:pt x="0" y="231896"/>
                  </a:lnTo>
                  <a:cubicBezTo>
                    <a:pt x="0" y="103823"/>
                    <a:pt x="103823" y="0"/>
                    <a:pt x="231896" y="0"/>
                  </a:cubicBezTo>
                  <a:close/>
                </a:path>
              </a:pathLst>
            </a:custGeom>
            <a:gradFill rotWithShape="true">
              <a:gsLst>
                <a:gs pos="0">
                  <a:srgbClr val="DBED92">
                    <a:alpha val="100000"/>
                  </a:srgbClr>
                </a:gs>
                <a:gs pos="100000">
                  <a:srgbClr val="89D957">
                    <a:alpha val="100000"/>
                  </a:srgbClr>
                </a:gs>
              </a:gsLst>
              <a:lin ang="2700000"/>
            </a:gradFill>
          </p:spPr>
        </p:sp>
        <p:sp>
          <p:nvSpPr>
            <p:cNvPr name="TextBox 4" id="4"/>
            <p:cNvSpPr txBox="true"/>
            <p:nvPr/>
          </p:nvSpPr>
          <p:spPr>
            <a:xfrm>
              <a:off x="0" y="-57150"/>
              <a:ext cx="463791" cy="2549857"/>
            </a:xfrm>
            <a:prstGeom prst="rect">
              <a:avLst/>
            </a:prstGeom>
          </p:spPr>
          <p:txBody>
            <a:bodyPr anchor="ctr" rtlCol="false" tIns="50800" lIns="50800" bIns="50800" rIns="50800"/>
            <a:lstStyle/>
            <a:p>
              <a:pPr algn="ctr">
                <a:lnSpc>
                  <a:spcPts val="2799"/>
                </a:lnSpc>
              </a:pPr>
            </a:p>
          </p:txBody>
        </p:sp>
      </p:grpSp>
      <p:sp>
        <p:nvSpPr>
          <p:cNvPr name="Freeform 5" id="5"/>
          <p:cNvSpPr/>
          <p:nvPr/>
        </p:nvSpPr>
        <p:spPr>
          <a:xfrm flipH="false" flipV="false" rot="-5400000">
            <a:off x="-792109" y="8595776"/>
            <a:ext cx="2007145" cy="2905078"/>
          </a:xfrm>
          <a:custGeom>
            <a:avLst/>
            <a:gdLst/>
            <a:ahLst/>
            <a:cxnLst/>
            <a:rect r="r" b="b" t="t" l="l"/>
            <a:pathLst>
              <a:path h="2905078" w="2007145">
                <a:moveTo>
                  <a:pt x="0" y="0"/>
                </a:moveTo>
                <a:lnTo>
                  <a:pt x="2007145" y="0"/>
                </a:lnTo>
                <a:lnTo>
                  <a:pt x="2007145" y="2905079"/>
                </a:lnTo>
                <a:lnTo>
                  <a:pt x="0" y="29050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5400000">
            <a:off x="11131478" y="8570649"/>
            <a:ext cx="2007145" cy="2905078"/>
          </a:xfrm>
          <a:custGeom>
            <a:avLst/>
            <a:gdLst/>
            <a:ahLst/>
            <a:cxnLst/>
            <a:rect r="r" b="b" t="t" l="l"/>
            <a:pathLst>
              <a:path h="2905078" w="2007145">
                <a:moveTo>
                  <a:pt x="0" y="0"/>
                </a:moveTo>
                <a:lnTo>
                  <a:pt x="2007145" y="0"/>
                </a:lnTo>
                <a:lnTo>
                  <a:pt x="2007145" y="2905079"/>
                </a:lnTo>
                <a:lnTo>
                  <a:pt x="0" y="29050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5400000">
            <a:off x="3205120" y="8570649"/>
            <a:ext cx="2007145" cy="2905078"/>
          </a:xfrm>
          <a:custGeom>
            <a:avLst/>
            <a:gdLst/>
            <a:ahLst/>
            <a:cxnLst/>
            <a:rect r="r" b="b" t="t" l="l"/>
            <a:pathLst>
              <a:path h="2905078" w="2007145">
                <a:moveTo>
                  <a:pt x="0" y="0"/>
                </a:moveTo>
                <a:lnTo>
                  <a:pt x="2007145" y="0"/>
                </a:lnTo>
                <a:lnTo>
                  <a:pt x="2007145" y="2905079"/>
                </a:lnTo>
                <a:lnTo>
                  <a:pt x="0" y="29050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5400000">
            <a:off x="15128707" y="8545522"/>
            <a:ext cx="2007145" cy="2905078"/>
          </a:xfrm>
          <a:custGeom>
            <a:avLst/>
            <a:gdLst/>
            <a:ahLst/>
            <a:cxnLst/>
            <a:rect r="r" b="b" t="t" l="l"/>
            <a:pathLst>
              <a:path h="2905078" w="2007145">
                <a:moveTo>
                  <a:pt x="0" y="0"/>
                </a:moveTo>
                <a:lnTo>
                  <a:pt x="2007145" y="0"/>
                </a:lnTo>
                <a:lnTo>
                  <a:pt x="2007145" y="2905078"/>
                </a:lnTo>
                <a:lnTo>
                  <a:pt x="0" y="29050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5400000">
            <a:off x="1208939" y="8595776"/>
            <a:ext cx="2007145" cy="2905078"/>
          </a:xfrm>
          <a:custGeom>
            <a:avLst/>
            <a:gdLst/>
            <a:ahLst/>
            <a:cxnLst/>
            <a:rect r="r" b="b" t="t" l="l"/>
            <a:pathLst>
              <a:path h="2905078" w="2007145">
                <a:moveTo>
                  <a:pt x="0" y="0"/>
                </a:moveTo>
                <a:lnTo>
                  <a:pt x="2007145" y="0"/>
                </a:lnTo>
                <a:lnTo>
                  <a:pt x="2007145" y="2905079"/>
                </a:lnTo>
                <a:lnTo>
                  <a:pt x="0" y="29050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5400000">
            <a:off x="13132526" y="8570649"/>
            <a:ext cx="2007145" cy="2905078"/>
          </a:xfrm>
          <a:custGeom>
            <a:avLst/>
            <a:gdLst/>
            <a:ahLst/>
            <a:cxnLst/>
            <a:rect r="r" b="b" t="t" l="l"/>
            <a:pathLst>
              <a:path h="2905078" w="2007145">
                <a:moveTo>
                  <a:pt x="0" y="0"/>
                </a:moveTo>
                <a:lnTo>
                  <a:pt x="2007145" y="0"/>
                </a:lnTo>
                <a:lnTo>
                  <a:pt x="2007145" y="2905079"/>
                </a:lnTo>
                <a:lnTo>
                  <a:pt x="0" y="29050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5400000">
            <a:off x="5206167" y="8570649"/>
            <a:ext cx="2007145" cy="2905078"/>
          </a:xfrm>
          <a:custGeom>
            <a:avLst/>
            <a:gdLst/>
            <a:ahLst/>
            <a:cxnLst/>
            <a:rect r="r" b="b" t="t" l="l"/>
            <a:pathLst>
              <a:path h="2905078" w="2007145">
                <a:moveTo>
                  <a:pt x="0" y="0"/>
                </a:moveTo>
                <a:lnTo>
                  <a:pt x="2007146" y="0"/>
                </a:lnTo>
                <a:lnTo>
                  <a:pt x="2007146" y="2905079"/>
                </a:lnTo>
                <a:lnTo>
                  <a:pt x="0" y="29050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5400000">
            <a:off x="17129754" y="8545522"/>
            <a:ext cx="2007145" cy="2905078"/>
          </a:xfrm>
          <a:custGeom>
            <a:avLst/>
            <a:gdLst/>
            <a:ahLst/>
            <a:cxnLst/>
            <a:rect r="r" b="b" t="t" l="l"/>
            <a:pathLst>
              <a:path h="2905078" w="2007145">
                <a:moveTo>
                  <a:pt x="0" y="0"/>
                </a:moveTo>
                <a:lnTo>
                  <a:pt x="2007146" y="0"/>
                </a:lnTo>
                <a:lnTo>
                  <a:pt x="2007146" y="2905078"/>
                </a:lnTo>
                <a:lnTo>
                  <a:pt x="0" y="29050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5400000">
            <a:off x="7169125" y="8570649"/>
            <a:ext cx="2007145" cy="2905078"/>
          </a:xfrm>
          <a:custGeom>
            <a:avLst/>
            <a:gdLst/>
            <a:ahLst/>
            <a:cxnLst/>
            <a:rect r="r" b="b" t="t" l="l"/>
            <a:pathLst>
              <a:path h="2905078" w="2007145">
                <a:moveTo>
                  <a:pt x="0" y="0"/>
                </a:moveTo>
                <a:lnTo>
                  <a:pt x="2007145" y="0"/>
                </a:lnTo>
                <a:lnTo>
                  <a:pt x="2007145" y="2905079"/>
                </a:lnTo>
                <a:lnTo>
                  <a:pt x="0" y="29050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5400000">
            <a:off x="9170172" y="8570649"/>
            <a:ext cx="2007145" cy="2905078"/>
          </a:xfrm>
          <a:custGeom>
            <a:avLst/>
            <a:gdLst/>
            <a:ahLst/>
            <a:cxnLst/>
            <a:rect r="r" b="b" t="t" l="l"/>
            <a:pathLst>
              <a:path h="2905078" w="2007145">
                <a:moveTo>
                  <a:pt x="0" y="0"/>
                </a:moveTo>
                <a:lnTo>
                  <a:pt x="2007146" y="0"/>
                </a:lnTo>
                <a:lnTo>
                  <a:pt x="2007146" y="2905079"/>
                </a:lnTo>
                <a:lnTo>
                  <a:pt x="0" y="29050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1028700" y="4423266"/>
            <a:ext cx="16230600" cy="4117864"/>
          </a:xfrm>
          <a:custGeom>
            <a:avLst/>
            <a:gdLst/>
            <a:ahLst/>
            <a:cxnLst/>
            <a:rect r="r" b="b" t="t" l="l"/>
            <a:pathLst>
              <a:path h="4117864" w="16230600">
                <a:moveTo>
                  <a:pt x="0" y="0"/>
                </a:moveTo>
                <a:lnTo>
                  <a:pt x="16230600" y="0"/>
                </a:lnTo>
                <a:lnTo>
                  <a:pt x="16230600" y="4117864"/>
                </a:lnTo>
                <a:lnTo>
                  <a:pt x="0" y="4117864"/>
                </a:lnTo>
                <a:lnTo>
                  <a:pt x="0" y="0"/>
                </a:lnTo>
                <a:close/>
              </a:path>
            </a:pathLst>
          </a:custGeom>
          <a:blipFill>
            <a:blip r:embed="rId4"/>
            <a:stretch>
              <a:fillRect l="0" t="-1473" r="0" b="-512"/>
            </a:stretch>
          </a:blipFill>
        </p:spPr>
      </p:sp>
      <p:sp>
        <p:nvSpPr>
          <p:cNvPr name="TextBox 16" id="16"/>
          <p:cNvSpPr txBox="true"/>
          <p:nvPr/>
        </p:nvSpPr>
        <p:spPr>
          <a:xfrm rot="0">
            <a:off x="1483583" y="748553"/>
            <a:ext cx="4065202" cy="1143635"/>
          </a:xfrm>
          <a:prstGeom prst="rect">
            <a:avLst/>
          </a:prstGeom>
        </p:spPr>
        <p:txBody>
          <a:bodyPr anchor="t" rtlCol="false" tIns="0" lIns="0" bIns="0" rIns="0">
            <a:spAutoFit/>
          </a:bodyPr>
          <a:lstStyle/>
          <a:p>
            <a:pPr algn="l" marL="0" indent="0" lvl="0">
              <a:lnSpc>
                <a:spcPts val="7480"/>
              </a:lnSpc>
              <a:spcBef>
                <a:spcPct val="0"/>
              </a:spcBef>
            </a:pPr>
            <a:r>
              <a:rPr lang="en-US" b="true" sz="6800">
                <a:solidFill>
                  <a:srgbClr val="0B0A0A"/>
                </a:solidFill>
                <a:latin typeface="Agrandir Bold"/>
                <a:ea typeface="Agrandir Bold"/>
                <a:cs typeface="Agrandir Bold"/>
                <a:sym typeface="Agrandir Bold"/>
              </a:rPr>
              <a:t>Data</a:t>
            </a:r>
            <a:r>
              <a:rPr lang="en-US" b="true" sz="6800" strike="noStrike" u="none">
                <a:solidFill>
                  <a:srgbClr val="0B0A0A"/>
                </a:solidFill>
                <a:latin typeface="Agrandir Bold"/>
                <a:ea typeface="Agrandir Bold"/>
                <a:cs typeface="Agrandir Bold"/>
                <a:sym typeface="Agrandir Bold"/>
              </a:rPr>
              <a:t>s</a:t>
            </a:r>
            <a:r>
              <a:rPr lang="en-US" b="true" sz="6800" strike="noStrike" u="none">
                <a:solidFill>
                  <a:srgbClr val="0B0A0A"/>
                </a:solidFill>
                <a:latin typeface="Agrandir Bold"/>
                <a:ea typeface="Agrandir Bold"/>
                <a:cs typeface="Agrandir Bold"/>
                <a:sym typeface="Agrandir Bold"/>
              </a:rPr>
              <a:t>et </a:t>
            </a:r>
          </a:p>
        </p:txBody>
      </p:sp>
      <p:sp>
        <p:nvSpPr>
          <p:cNvPr name="TextBox 17" id="17"/>
          <p:cNvSpPr txBox="true"/>
          <p:nvPr/>
        </p:nvSpPr>
        <p:spPr>
          <a:xfrm rot="0">
            <a:off x="1028700" y="2554907"/>
            <a:ext cx="16230600" cy="1682158"/>
          </a:xfrm>
          <a:prstGeom prst="rect">
            <a:avLst/>
          </a:prstGeom>
        </p:spPr>
        <p:txBody>
          <a:bodyPr anchor="t" rtlCol="false" tIns="0" lIns="0" bIns="0" rIns="0">
            <a:spAutoFit/>
          </a:bodyPr>
          <a:lstStyle/>
          <a:p>
            <a:pPr algn="just" marL="0" indent="0" lvl="0">
              <a:lnSpc>
                <a:spcPts val="3357"/>
              </a:lnSpc>
              <a:spcBef>
                <a:spcPct val="0"/>
              </a:spcBef>
            </a:pPr>
            <a:r>
              <a:rPr lang="en-US" sz="2398" spc="-47">
                <a:solidFill>
                  <a:srgbClr val="0B0A0A"/>
                </a:solidFill>
                <a:latin typeface="Poppins"/>
                <a:ea typeface="Poppins"/>
                <a:cs typeface="Poppins"/>
                <a:sym typeface="Poppins"/>
              </a:rPr>
              <a:t>Dataset pinjaman historis periode 2007 - 2014 terdiri dari 466.285 baris dan 75 fitur awal (sebelum pembersihan).  Campuran antara data numerik seperti jumlah pinjaman dan bunga serta data kategorikal (seperti grade, tujuan pinjaman, dan status kepemilikan rumah). Target Variabel </a:t>
            </a:r>
            <a:r>
              <a:rPr lang="en-US" b="true" sz="2398" spc="-47">
                <a:solidFill>
                  <a:srgbClr val="0B0A0A"/>
                </a:solidFill>
                <a:latin typeface="Poppins Bold"/>
                <a:ea typeface="Poppins Bold"/>
                <a:cs typeface="Poppins Bold"/>
                <a:sym typeface="Poppins Bold"/>
              </a:rPr>
              <a:t>loan_status </a:t>
            </a:r>
            <a:r>
              <a:rPr lang="en-US" sz="2398" spc="-47">
                <a:solidFill>
                  <a:srgbClr val="0B0A0A"/>
                </a:solidFill>
                <a:latin typeface="Poppins"/>
                <a:ea typeface="Poppins"/>
                <a:cs typeface="Poppins"/>
                <a:sym typeface="Poppins"/>
              </a:rPr>
              <a:t>yang disederhanakan menjadi </a:t>
            </a:r>
            <a:r>
              <a:rPr lang="en-US" b="true" sz="2398" spc="-47">
                <a:solidFill>
                  <a:srgbClr val="0B0A0A"/>
                </a:solidFill>
                <a:latin typeface="Poppins Bold"/>
                <a:ea typeface="Poppins Bold"/>
                <a:cs typeface="Poppins Bold"/>
                <a:sym typeface="Poppins Bold"/>
              </a:rPr>
              <a:t>1 (Baik)</a:t>
            </a:r>
            <a:r>
              <a:rPr lang="en-US" sz="2398" spc="-47">
                <a:solidFill>
                  <a:srgbClr val="0B0A0A"/>
                </a:solidFill>
                <a:latin typeface="Poppins"/>
                <a:ea typeface="Poppins"/>
                <a:cs typeface="Poppins"/>
                <a:sym typeface="Poppins"/>
              </a:rPr>
              <a:t>: Status Current, Fully Paid dan </a:t>
            </a:r>
            <a:r>
              <a:rPr lang="en-US" b="true" sz="2398" spc="-47">
                <a:solidFill>
                  <a:srgbClr val="0B0A0A"/>
                </a:solidFill>
                <a:latin typeface="Poppins Bold"/>
                <a:ea typeface="Poppins Bold"/>
                <a:cs typeface="Poppins Bold"/>
                <a:sym typeface="Poppins Bold"/>
              </a:rPr>
              <a:t>0 (Tidak Baik)</a:t>
            </a:r>
            <a:r>
              <a:rPr lang="en-US" sz="2398" spc="-47">
                <a:solidFill>
                  <a:srgbClr val="0B0A0A"/>
                </a:solidFill>
                <a:latin typeface="Poppins"/>
                <a:ea typeface="Poppins"/>
                <a:cs typeface="Poppins"/>
                <a:sym typeface="Poppins"/>
              </a:rPr>
              <a:t>: Status Charged Off, Late.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16165688" y="2361246"/>
            <a:ext cx="2007145" cy="2905078"/>
          </a:xfrm>
          <a:custGeom>
            <a:avLst/>
            <a:gdLst/>
            <a:ahLst/>
            <a:cxnLst/>
            <a:rect r="r" b="b" t="t" l="l"/>
            <a:pathLst>
              <a:path h="2905078" w="2007145">
                <a:moveTo>
                  <a:pt x="0" y="0"/>
                </a:moveTo>
                <a:lnTo>
                  <a:pt x="2007145" y="0"/>
                </a:lnTo>
                <a:lnTo>
                  <a:pt x="2007145" y="2905078"/>
                </a:lnTo>
                <a:lnTo>
                  <a:pt x="0" y="29050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6140560" y="-1635983"/>
            <a:ext cx="2007145" cy="2905078"/>
          </a:xfrm>
          <a:custGeom>
            <a:avLst/>
            <a:gdLst/>
            <a:ahLst/>
            <a:cxnLst/>
            <a:rect r="r" b="b" t="t" l="l"/>
            <a:pathLst>
              <a:path h="2905078" w="2007145">
                <a:moveTo>
                  <a:pt x="0" y="0"/>
                </a:moveTo>
                <a:lnTo>
                  <a:pt x="2007145" y="0"/>
                </a:lnTo>
                <a:lnTo>
                  <a:pt x="2007145" y="2905079"/>
                </a:lnTo>
                <a:lnTo>
                  <a:pt x="0" y="29050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10800000">
            <a:off x="16165688" y="360198"/>
            <a:ext cx="2007145" cy="2905078"/>
          </a:xfrm>
          <a:custGeom>
            <a:avLst/>
            <a:gdLst/>
            <a:ahLst/>
            <a:cxnLst/>
            <a:rect r="r" b="b" t="t" l="l"/>
            <a:pathLst>
              <a:path h="2905078" w="2007145">
                <a:moveTo>
                  <a:pt x="0" y="0"/>
                </a:moveTo>
                <a:lnTo>
                  <a:pt x="2007145" y="0"/>
                </a:lnTo>
                <a:lnTo>
                  <a:pt x="2007145" y="2905079"/>
                </a:lnTo>
                <a:lnTo>
                  <a:pt x="0" y="29050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0800000">
            <a:off x="16165688" y="8286557"/>
            <a:ext cx="2007145" cy="2905078"/>
          </a:xfrm>
          <a:custGeom>
            <a:avLst/>
            <a:gdLst/>
            <a:ahLst/>
            <a:cxnLst/>
            <a:rect r="r" b="b" t="t" l="l"/>
            <a:pathLst>
              <a:path h="2905078" w="2007145">
                <a:moveTo>
                  <a:pt x="0" y="0"/>
                </a:moveTo>
                <a:lnTo>
                  <a:pt x="2007145" y="0"/>
                </a:lnTo>
                <a:lnTo>
                  <a:pt x="2007145" y="2905078"/>
                </a:lnTo>
                <a:lnTo>
                  <a:pt x="0" y="29050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0800000">
            <a:off x="16165688" y="6323599"/>
            <a:ext cx="2007145" cy="2905078"/>
          </a:xfrm>
          <a:custGeom>
            <a:avLst/>
            <a:gdLst/>
            <a:ahLst/>
            <a:cxnLst/>
            <a:rect r="r" b="b" t="t" l="l"/>
            <a:pathLst>
              <a:path h="2905078" w="2007145">
                <a:moveTo>
                  <a:pt x="0" y="0"/>
                </a:moveTo>
                <a:lnTo>
                  <a:pt x="2007145" y="0"/>
                </a:lnTo>
                <a:lnTo>
                  <a:pt x="2007145" y="2905079"/>
                </a:lnTo>
                <a:lnTo>
                  <a:pt x="0" y="29050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16165688" y="4322552"/>
            <a:ext cx="2007145" cy="2905078"/>
          </a:xfrm>
          <a:custGeom>
            <a:avLst/>
            <a:gdLst/>
            <a:ahLst/>
            <a:cxnLst/>
            <a:rect r="r" b="b" t="t" l="l"/>
            <a:pathLst>
              <a:path h="2905078" w="2007145">
                <a:moveTo>
                  <a:pt x="0" y="0"/>
                </a:moveTo>
                <a:lnTo>
                  <a:pt x="2007145" y="0"/>
                </a:lnTo>
                <a:lnTo>
                  <a:pt x="2007145" y="2905078"/>
                </a:lnTo>
                <a:lnTo>
                  <a:pt x="0" y="29050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5400000">
            <a:off x="10070506" y="-3223722"/>
            <a:ext cx="2224599" cy="9392439"/>
            <a:chOff x="0" y="0"/>
            <a:chExt cx="585903" cy="2473729"/>
          </a:xfrm>
        </p:grpSpPr>
        <p:sp>
          <p:nvSpPr>
            <p:cNvPr name="Freeform 9" id="9"/>
            <p:cNvSpPr/>
            <p:nvPr/>
          </p:nvSpPr>
          <p:spPr>
            <a:xfrm flipH="false" flipV="false" rot="0">
              <a:off x="0" y="0"/>
              <a:ext cx="585903" cy="2473729"/>
            </a:xfrm>
            <a:custGeom>
              <a:avLst/>
              <a:gdLst/>
              <a:ahLst/>
              <a:cxnLst/>
              <a:rect r="r" b="b" t="t" l="l"/>
              <a:pathLst>
                <a:path h="2473729" w="585903">
                  <a:moveTo>
                    <a:pt x="278411" y="0"/>
                  </a:moveTo>
                  <a:lnTo>
                    <a:pt x="307491" y="0"/>
                  </a:lnTo>
                  <a:cubicBezTo>
                    <a:pt x="381330" y="0"/>
                    <a:pt x="452146" y="29333"/>
                    <a:pt x="504358" y="81545"/>
                  </a:cubicBezTo>
                  <a:cubicBezTo>
                    <a:pt x="556570" y="133757"/>
                    <a:pt x="585903" y="204572"/>
                    <a:pt x="585903" y="278411"/>
                  </a:cubicBezTo>
                  <a:lnTo>
                    <a:pt x="585903" y="2195318"/>
                  </a:lnTo>
                  <a:cubicBezTo>
                    <a:pt x="585903" y="2349080"/>
                    <a:pt x="461254" y="2473729"/>
                    <a:pt x="307491" y="2473729"/>
                  </a:cubicBezTo>
                  <a:lnTo>
                    <a:pt x="278411" y="2473729"/>
                  </a:lnTo>
                  <a:cubicBezTo>
                    <a:pt x="124649" y="2473729"/>
                    <a:pt x="0" y="2349080"/>
                    <a:pt x="0" y="2195318"/>
                  </a:cubicBezTo>
                  <a:lnTo>
                    <a:pt x="0" y="278411"/>
                  </a:lnTo>
                  <a:cubicBezTo>
                    <a:pt x="0" y="124649"/>
                    <a:pt x="124649" y="0"/>
                    <a:pt x="278411" y="0"/>
                  </a:cubicBezTo>
                  <a:close/>
                </a:path>
              </a:pathLst>
            </a:custGeom>
            <a:gradFill rotWithShape="true">
              <a:gsLst>
                <a:gs pos="0">
                  <a:srgbClr val="DBED92">
                    <a:alpha val="100000"/>
                  </a:srgbClr>
                </a:gs>
                <a:gs pos="100000">
                  <a:srgbClr val="89D957">
                    <a:alpha val="100000"/>
                  </a:srgbClr>
                </a:gs>
              </a:gsLst>
              <a:lin ang="2700000"/>
            </a:gradFill>
          </p:spPr>
        </p:sp>
        <p:sp>
          <p:nvSpPr>
            <p:cNvPr name="TextBox 10" id="10"/>
            <p:cNvSpPr txBox="true"/>
            <p:nvPr/>
          </p:nvSpPr>
          <p:spPr>
            <a:xfrm>
              <a:off x="0" y="-57150"/>
              <a:ext cx="585903" cy="2530879"/>
            </a:xfrm>
            <a:prstGeom prst="rect">
              <a:avLst/>
            </a:prstGeom>
          </p:spPr>
          <p:txBody>
            <a:bodyPr anchor="ctr" rtlCol="false" tIns="50800" lIns="50800" bIns="50800" rIns="50800"/>
            <a:lstStyle/>
            <a:p>
              <a:pPr algn="ctr">
                <a:lnSpc>
                  <a:spcPts val="2799"/>
                </a:lnSpc>
              </a:pPr>
            </a:p>
          </p:txBody>
        </p:sp>
      </p:grpSp>
      <p:sp>
        <p:nvSpPr>
          <p:cNvPr name="Freeform 11" id="11"/>
          <p:cNvSpPr/>
          <p:nvPr/>
        </p:nvSpPr>
        <p:spPr>
          <a:xfrm flipH="false" flipV="false" rot="0">
            <a:off x="10459720" y="3813785"/>
            <a:ext cx="1541369" cy="1570821"/>
          </a:xfrm>
          <a:custGeom>
            <a:avLst/>
            <a:gdLst/>
            <a:ahLst/>
            <a:cxnLst/>
            <a:rect r="r" b="b" t="t" l="l"/>
            <a:pathLst>
              <a:path h="1570821" w="1541369">
                <a:moveTo>
                  <a:pt x="0" y="0"/>
                </a:moveTo>
                <a:lnTo>
                  <a:pt x="1541369" y="0"/>
                </a:lnTo>
                <a:lnTo>
                  <a:pt x="1541369" y="1570821"/>
                </a:lnTo>
                <a:lnTo>
                  <a:pt x="0" y="1570821"/>
                </a:lnTo>
                <a:lnTo>
                  <a:pt x="0" y="0"/>
                </a:lnTo>
                <a:close/>
              </a:path>
            </a:pathLst>
          </a:custGeom>
          <a:blipFill>
            <a:blip r:embed="rId4"/>
            <a:stretch>
              <a:fillRect l="0" t="0" r="0" b="0"/>
            </a:stretch>
          </a:blipFill>
        </p:spPr>
      </p:sp>
      <p:sp>
        <p:nvSpPr>
          <p:cNvPr name="Freeform 12" id="12"/>
          <p:cNvSpPr/>
          <p:nvPr/>
        </p:nvSpPr>
        <p:spPr>
          <a:xfrm flipH="false" flipV="false" rot="0">
            <a:off x="924283" y="3906154"/>
            <a:ext cx="6447360" cy="4514747"/>
          </a:xfrm>
          <a:custGeom>
            <a:avLst/>
            <a:gdLst/>
            <a:ahLst/>
            <a:cxnLst/>
            <a:rect r="r" b="b" t="t" l="l"/>
            <a:pathLst>
              <a:path h="4514747" w="6447360">
                <a:moveTo>
                  <a:pt x="0" y="0"/>
                </a:moveTo>
                <a:lnTo>
                  <a:pt x="6447361" y="0"/>
                </a:lnTo>
                <a:lnTo>
                  <a:pt x="6447361" y="4514748"/>
                </a:lnTo>
                <a:lnTo>
                  <a:pt x="0" y="4514748"/>
                </a:lnTo>
                <a:lnTo>
                  <a:pt x="0" y="0"/>
                </a:lnTo>
                <a:close/>
              </a:path>
            </a:pathLst>
          </a:custGeom>
          <a:blipFill>
            <a:blip r:embed="rId5"/>
            <a:stretch>
              <a:fillRect l="-1991" t="0" r="0" b="-8145"/>
            </a:stretch>
          </a:blipFill>
        </p:spPr>
      </p:sp>
      <p:sp>
        <p:nvSpPr>
          <p:cNvPr name="TextBox 13" id="13"/>
          <p:cNvSpPr txBox="true"/>
          <p:nvPr/>
        </p:nvSpPr>
        <p:spPr>
          <a:xfrm rot="0">
            <a:off x="6892011" y="570797"/>
            <a:ext cx="8676787" cy="1698625"/>
          </a:xfrm>
          <a:prstGeom prst="rect">
            <a:avLst/>
          </a:prstGeom>
        </p:spPr>
        <p:txBody>
          <a:bodyPr anchor="t" rtlCol="false" tIns="0" lIns="0" bIns="0" rIns="0">
            <a:spAutoFit/>
          </a:bodyPr>
          <a:lstStyle/>
          <a:p>
            <a:pPr algn="r">
              <a:lnSpc>
                <a:spcPts val="6050"/>
              </a:lnSpc>
            </a:pPr>
            <a:r>
              <a:rPr lang="en-US" sz="5500" b="true">
                <a:solidFill>
                  <a:srgbClr val="0B0A0A"/>
                </a:solidFill>
                <a:latin typeface="Agrandir Bold"/>
                <a:ea typeface="Agrandir Bold"/>
                <a:cs typeface="Agrandir Bold"/>
                <a:sym typeface="Agrandir Bold"/>
              </a:rPr>
              <a:t>Top Insight (Exploratory Data Analysis)</a:t>
            </a:r>
          </a:p>
        </p:txBody>
      </p:sp>
      <p:sp>
        <p:nvSpPr>
          <p:cNvPr name="TextBox 14" id="14"/>
          <p:cNvSpPr txBox="true"/>
          <p:nvPr/>
        </p:nvSpPr>
        <p:spPr>
          <a:xfrm rot="0">
            <a:off x="954679" y="2748386"/>
            <a:ext cx="5937332" cy="516890"/>
          </a:xfrm>
          <a:prstGeom prst="rect">
            <a:avLst/>
          </a:prstGeom>
        </p:spPr>
        <p:txBody>
          <a:bodyPr anchor="t" rtlCol="false" tIns="0" lIns="0" bIns="0" rIns="0">
            <a:spAutoFit/>
          </a:bodyPr>
          <a:lstStyle/>
          <a:p>
            <a:pPr algn="l" marL="626109" indent="-313054" lvl="1">
              <a:lnSpc>
                <a:spcPts val="4059"/>
              </a:lnSpc>
              <a:spcBef>
                <a:spcPct val="0"/>
              </a:spcBef>
              <a:buAutoNum type="arabicPeriod" startAt="1"/>
            </a:pPr>
            <a:r>
              <a:rPr lang="en-US" b="true" sz="2899">
                <a:solidFill>
                  <a:srgbClr val="0B0A0A"/>
                </a:solidFill>
                <a:latin typeface="Poppins Bold"/>
                <a:ea typeface="Poppins Bold"/>
                <a:cs typeface="Poppins Bold"/>
                <a:sym typeface="Poppins Bold"/>
              </a:rPr>
              <a:t>Distribusi Status Pinjaman</a:t>
            </a:r>
          </a:p>
        </p:txBody>
      </p:sp>
      <p:sp>
        <p:nvSpPr>
          <p:cNvPr name="TextBox 15" id="15"/>
          <p:cNvSpPr txBox="true"/>
          <p:nvPr/>
        </p:nvSpPr>
        <p:spPr>
          <a:xfrm rot="0">
            <a:off x="8015550" y="5717941"/>
            <a:ext cx="7139490" cy="1416050"/>
          </a:xfrm>
          <a:prstGeom prst="rect">
            <a:avLst/>
          </a:prstGeom>
        </p:spPr>
        <p:txBody>
          <a:bodyPr anchor="t" rtlCol="false" tIns="0" lIns="0" bIns="0" rIns="0">
            <a:spAutoFit/>
          </a:bodyPr>
          <a:lstStyle/>
          <a:p>
            <a:pPr algn="ctr">
              <a:lnSpc>
                <a:spcPts val="2799"/>
              </a:lnSpc>
              <a:spcBef>
                <a:spcPct val="0"/>
              </a:spcBef>
            </a:pPr>
            <a:r>
              <a:rPr lang="en-US" sz="1999">
                <a:solidFill>
                  <a:srgbClr val="0B0A0A"/>
                </a:solidFill>
                <a:latin typeface="Poppins"/>
                <a:ea typeface="Poppins"/>
                <a:cs typeface="Poppins"/>
                <a:sym typeface="Poppins"/>
              </a:rPr>
              <a:t>Mayoritas portofolio berada dalam kategori Pinjaman Baik (</a:t>
            </a:r>
            <a:r>
              <a:rPr lang="en-US" b="true" sz="1999">
                <a:solidFill>
                  <a:srgbClr val="0B0A0A"/>
                </a:solidFill>
                <a:latin typeface="Poppins Bold"/>
                <a:ea typeface="Poppins Bold"/>
                <a:cs typeface="Poppins Bold"/>
                <a:sym typeface="Poppins Bold"/>
              </a:rPr>
              <a:t>88,8%</a:t>
            </a:r>
            <a:r>
              <a:rPr lang="en-US" sz="1999">
                <a:solidFill>
                  <a:srgbClr val="0B0A0A"/>
                </a:solidFill>
                <a:latin typeface="Poppins"/>
                <a:ea typeface="Poppins"/>
                <a:cs typeface="Poppins"/>
                <a:sym typeface="Poppins"/>
              </a:rPr>
              <a:t>) dengan total 414.099 akun.  Terdapat 11,2% (52.186 akun) yang masuk kategori Pinjaman Tidak Baik, yang menjadi fokus utama prediksi model.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16165688" y="2361246"/>
            <a:ext cx="2007145" cy="2905078"/>
          </a:xfrm>
          <a:custGeom>
            <a:avLst/>
            <a:gdLst/>
            <a:ahLst/>
            <a:cxnLst/>
            <a:rect r="r" b="b" t="t" l="l"/>
            <a:pathLst>
              <a:path h="2905078" w="2007145">
                <a:moveTo>
                  <a:pt x="0" y="0"/>
                </a:moveTo>
                <a:lnTo>
                  <a:pt x="2007145" y="0"/>
                </a:lnTo>
                <a:lnTo>
                  <a:pt x="2007145" y="2905078"/>
                </a:lnTo>
                <a:lnTo>
                  <a:pt x="0" y="29050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6140560" y="-1635983"/>
            <a:ext cx="2007145" cy="2905078"/>
          </a:xfrm>
          <a:custGeom>
            <a:avLst/>
            <a:gdLst/>
            <a:ahLst/>
            <a:cxnLst/>
            <a:rect r="r" b="b" t="t" l="l"/>
            <a:pathLst>
              <a:path h="2905078" w="2007145">
                <a:moveTo>
                  <a:pt x="0" y="0"/>
                </a:moveTo>
                <a:lnTo>
                  <a:pt x="2007145" y="0"/>
                </a:lnTo>
                <a:lnTo>
                  <a:pt x="2007145" y="2905079"/>
                </a:lnTo>
                <a:lnTo>
                  <a:pt x="0" y="29050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10800000">
            <a:off x="16165688" y="360198"/>
            <a:ext cx="2007145" cy="2905078"/>
          </a:xfrm>
          <a:custGeom>
            <a:avLst/>
            <a:gdLst/>
            <a:ahLst/>
            <a:cxnLst/>
            <a:rect r="r" b="b" t="t" l="l"/>
            <a:pathLst>
              <a:path h="2905078" w="2007145">
                <a:moveTo>
                  <a:pt x="0" y="0"/>
                </a:moveTo>
                <a:lnTo>
                  <a:pt x="2007145" y="0"/>
                </a:lnTo>
                <a:lnTo>
                  <a:pt x="2007145" y="2905079"/>
                </a:lnTo>
                <a:lnTo>
                  <a:pt x="0" y="29050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0800000">
            <a:off x="16165688" y="8286557"/>
            <a:ext cx="2007145" cy="2905078"/>
          </a:xfrm>
          <a:custGeom>
            <a:avLst/>
            <a:gdLst/>
            <a:ahLst/>
            <a:cxnLst/>
            <a:rect r="r" b="b" t="t" l="l"/>
            <a:pathLst>
              <a:path h="2905078" w="2007145">
                <a:moveTo>
                  <a:pt x="0" y="0"/>
                </a:moveTo>
                <a:lnTo>
                  <a:pt x="2007145" y="0"/>
                </a:lnTo>
                <a:lnTo>
                  <a:pt x="2007145" y="2905078"/>
                </a:lnTo>
                <a:lnTo>
                  <a:pt x="0" y="29050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0800000">
            <a:off x="16165688" y="6323599"/>
            <a:ext cx="2007145" cy="2905078"/>
          </a:xfrm>
          <a:custGeom>
            <a:avLst/>
            <a:gdLst/>
            <a:ahLst/>
            <a:cxnLst/>
            <a:rect r="r" b="b" t="t" l="l"/>
            <a:pathLst>
              <a:path h="2905078" w="2007145">
                <a:moveTo>
                  <a:pt x="0" y="0"/>
                </a:moveTo>
                <a:lnTo>
                  <a:pt x="2007145" y="0"/>
                </a:lnTo>
                <a:lnTo>
                  <a:pt x="2007145" y="2905079"/>
                </a:lnTo>
                <a:lnTo>
                  <a:pt x="0" y="29050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16165688" y="4322552"/>
            <a:ext cx="2007145" cy="2905078"/>
          </a:xfrm>
          <a:custGeom>
            <a:avLst/>
            <a:gdLst/>
            <a:ahLst/>
            <a:cxnLst/>
            <a:rect r="r" b="b" t="t" l="l"/>
            <a:pathLst>
              <a:path h="2905078" w="2007145">
                <a:moveTo>
                  <a:pt x="0" y="0"/>
                </a:moveTo>
                <a:lnTo>
                  <a:pt x="2007145" y="0"/>
                </a:lnTo>
                <a:lnTo>
                  <a:pt x="2007145" y="2905078"/>
                </a:lnTo>
                <a:lnTo>
                  <a:pt x="0" y="29050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5400000">
            <a:off x="10070506" y="-3223722"/>
            <a:ext cx="2224599" cy="9392439"/>
            <a:chOff x="0" y="0"/>
            <a:chExt cx="585903" cy="2473729"/>
          </a:xfrm>
        </p:grpSpPr>
        <p:sp>
          <p:nvSpPr>
            <p:cNvPr name="Freeform 9" id="9"/>
            <p:cNvSpPr/>
            <p:nvPr/>
          </p:nvSpPr>
          <p:spPr>
            <a:xfrm flipH="false" flipV="false" rot="0">
              <a:off x="0" y="0"/>
              <a:ext cx="585903" cy="2473729"/>
            </a:xfrm>
            <a:custGeom>
              <a:avLst/>
              <a:gdLst/>
              <a:ahLst/>
              <a:cxnLst/>
              <a:rect r="r" b="b" t="t" l="l"/>
              <a:pathLst>
                <a:path h="2473729" w="585903">
                  <a:moveTo>
                    <a:pt x="278411" y="0"/>
                  </a:moveTo>
                  <a:lnTo>
                    <a:pt x="307491" y="0"/>
                  </a:lnTo>
                  <a:cubicBezTo>
                    <a:pt x="381330" y="0"/>
                    <a:pt x="452146" y="29333"/>
                    <a:pt x="504358" y="81545"/>
                  </a:cubicBezTo>
                  <a:cubicBezTo>
                    <a:pt x="556570" y="133757"/>
                    <a:pt x="585903" y="204572"/>
                    <a:pt x="585903" y="278411"/>
                  </a:cubicBezTo>
                  <a:lnTo>
                    <a:pt x="585903" y="2195318"/>
                  </a:lnTo>
                  <a:cubicBezTo>
                    <a:pt x="585903" y="2349080"/>
                    <a:pt x="461254" y="2473729"/>
                    <a:pt x="307491" y="2473729"/>
                  </a:cubicBezTo>
                  <a:lnTo>
                    <a:pt x="278411" y="2473729"/>
                  </a:lnTo>
                  <a:cubicBezTo>
                    <a:pt x="124649" y="2473729"/>
                    <a:pt x="0" y="2349080"/>
                    <a:pt x="0" y="2195318"/>
                  </a:cubicBezTo>
                  <a:lnTo>
                    <a:pt x="0" y="278411"/>
                  </a:lnTo>
                  <a:cubicBezTo>
                    <a:pt x="0" y="124649"/>
                    <a:pt x="124649" y="0"/>
                    <a:pt x="278411" y="0"/>
                  </a:cubicBezTo>
                  <a:close/>
                </a:path>
              </a:pathLst>
            </a:custGeom>
            <a:gradFill rotWithShape="true">
              <a:gsLst>
                <a:gs pos="0">
                  <a:srgbClr val="DBED92">
                    <a:alpha val="100000"/>
                  </a:srgbClr>
                </a:gs>
                <a:gs pos="100000">
                  <a:srgbClr val="89D957">
                    <a:alpha val="100000"/>
                  </a:srgbClr>
                </a:gs>
              </a:gsLst>
              <a:lin ang="2700000"/>
            </a:gradFill>
          </p:spPr>
        </p:sp>
        <p:sp>
          <p:nvSpPr>
            <p:cNvPr name="TextBox 10" id="10"/>
            <p:cNvSpPr txBox="true"/>
            <p:nvPr/>
          </p:nvSpPr>
          <p:spPr>
            <a:xfrm>
              <a:off x="0" y="-57150"/>
              <a:ext cx="585903" cy="2530879"/>
            </a:xfrm>
            <a:prstGeom prst="rect">
              <a:avLst/>
            </a:prstGeom>
          </p:spPr>
          <p:txBody>
            <a:bodyPr anchor="ctr" rtlCol="false" tIns="50800" lIns="50800" bIns="50800" rIns="50800"/>
            <a:lstStyle/>
            <a:p>
              <a:pPr algn="ctr">
                <a:lnSpc>
                  <a:spcPts val="2799"/>
                </a:lnSpc>
              </a:pPr>
            </a:p>
          </p:txBody>
        </p:sp>
      </p:grpSp>
      <p:sp>
        <p:nvSpPr>
          <p:cNvPr name="Freeform 11" id="11"/>
          <p:cNvSpPr/>
          <p:nvPr/>
        </p:nvSpPr>
        <p:spPr>
          <a:xfrm flipH="false" flipV="false" rot="0">
            <a:off x="904752" y="3605966"/>
            <a:ext cx="8020507" cy="4782228"/>
          </a:xfrm>
          <a:custGeom>
            <a:avLst/>
            <a:gdLst/>
            <a:ahLst/>
            <a:cxnLst/>
            <a:rect r="r" b="b" t="t" l="l"/>
            <a:pathLst>
              <a:path h="4782228" w="8020507">
                <a:moveTo>
                  <a:pt x="0" y="0"/>
                </a:moveTo>
                <a:lnTo>
                  <a:pt x="8020508" y="0"/>
                </a:lnTo>
                <a:lnTo>
                  <a:pt x="8020508" y="4782228"/>
                </a:lnTo>
                <a:lnTo>
                  <a:pt x="0" y="4782228"/>
                </a:lnTo>
                <a:lnTo>
                  <a:pt x="0" y="0"/>
                </a:lnTo>
                <a:close/>
              </a:path>
            </a:pathLst>
          </a:custGeom>
          <a:blipFill>
            <a:blip r:embed="rId4"/>
            <a:stretch>
              <a:fillRect l="0" t="0" r="0" b="0"/>
            </a:stretch>
          </a:blipFill>
        </p:spPr>
      </p:sp>
      <p:sp>
        <p:nvSpPr>
          <p:cNvPr name="TextBox 12" id="12"/>
          <p:cNvSpPr txBox="true"/>
          <p:nvPr/>
        </p:nvSpPr>
        <p:spPr>
          <a:xfrm rot="0">
            <a:off x="6892011" y="570797"/>
            <a:ext cx="8676787" cy="1698625"/>
          </a:xfrm>
          <a:prstGeom prst="rect">
            <a:avLst/>
          </a:prstGeom>
        </p:spPr>
        <p:txBody>
          <a:bodyPr anchor="t" rtlCol="false" tIns="0" lIns="0" bIns="0" rIns="0">
            <a:spAutoFit/>
          </a:bodyPr>
          <a:lstStyle/>
          <a:p>
            <a:pPr algn="r">
              <a:lnSpc>
                <a:spcPts val="6050"/>
              </a:lnSpc>
            </a:pPr>
            <a:r>
              <a:rPr lang="en-US" sz="5500" b="true">
                <a:solidFill>
                  <a:srgbClr val="0B0A0A"/>
                </a:solidFill>
                <a:latin typeface="Agrandir Bold"/>
                <a:ea typeface="Agrandir Bold"/>
                <a:cs typeface="Agrandir Bold"/>
                <a:sym typeface="Agrandir Bold"/>
              </a:rPr>
              <a:t>Top Insight (Exploratory Data Analysis)</a:t>
            </a:r>
          </a:p>
        </p:txBody>
      </p:sp>
      <p:sp>
        <p:nvSpPr>
          <p:cNvPr name="TextBox 13" id="13"/>
          <p:cNvSpPr txBox="true"/>
          <p:nvPr/>
        </p:nvSpPr>
        <p:spPr>
          <a:xfrm rot="0">
            <a:off x="1028700" y="2748386"/>
            <a:ext cx="6516470" cy="516890"/>
          </a:xfrm>
          <a:prstGeom prst="rect">
            <a:avLst/>
          </a:prstGeom>
        </p:spPr>
        <p:txBody>
          <a:bodyPr anchor="t" rtlCol="false" tIns="0" lIns="0" bIns="0" rIns="0">
            <a:spAutoFit/>
          </a:bodyPr>
          <a:lstStyle/>
          <a:p>
            <a:pPr algn="l">
              <a:lnSpc>
                <a:spcPts val="4059"/>
              </a:lnSpc>
              <a:spcBef>
                <a:spcPct val="0"/>
              </a:spcBef>
            </a:pPr>
            <a:r>
              <a:rPr lang="en-US" sz="2899">
                <a:solidFill>
                  <a:srgbClr val="0B0A0A"/>
                </a:solidFill>
                <a:latin typeface="Poppins"/>
                <a:ea typeface="Poppins"/>
                <a:cs typeface="Poppins"/>
                <a:sym typeface="Poppins"/>
              </a:rPr>
              <a:t>2. </a:t>
            </a:r>
            <a:r>
              <a:rPr lang="en-US" b="true" sz="2899">
                <a:solidFill>
                  <a:srgbClr val="0B0A0A"/>
                </a:solidFill>
                <a:latin typeface="Poppins Bold"/>
                <a:ea typeface="Poppins Bold"/>
                <a:cs typeface="Poppins Bold"/>
                <a:sym typeface="Poppins Bold"/>
              </a:rPr>
              <a:t>Profil Lama Bekerja Peminjam</a:t>
            </a:r>
          </a:p>
        </p:txBody>
      </p:sp>
      <p:sp>
        <p:nvSpPr>
          <p:cNvPr name="TextBox 14" id="14"/>
          <p:cNvSpPr txBox="true"/>
          <p:nvPr/>
        </p:nvSpPr>
        <p:spPr>
          <a:xfrm rot="0">
            <a:off x="10353651" y="3850274"/>
            <a:ext cx="5525374" cy="1768475"/>
          </a:xfrm>
          <a:prstGeom prst="rect">
            <a:avLst/>
          </a:prstGeom>
        </p:spPr>
        <p:txBody>
          <a:bodyPr anchor="t" rtlCol="false" tIns="0" lIns="0" bIns="0" rIns="0">
            <a:spAutoFit/>
          </a:bodyPr>
          <a:lstStyle/>
          <a:p>
            <a:pPr algn="just">
              <a:lnSpc>
                <a:spcPts val="2799"/>
              </a:lnSpc>
              <a:spcBef>
                <a:spcPct val="0"/>
              </a:spcBef>
            </a:pPr>
            <a:r>
              <a:rPr lang="en-US" sz="1999">
                <a:solidFill>
                  <a:srgbClr val="0B0A0A"/>
                </a:solidFill>
                <a:latin typeface="Poppins"/>
                <a:ea typeface="Poppins"/>
                <a:cs typeface="Poppins"/>
                <a:sym typeface="Poppins"/>
              </a:rPr>
              <a:t>P</a:t>
            </a:r>
            <a:r>
              <a:rPr lang="en-US" sz="1999">
                <a:solidFill>
                  <a:srgbClr val="0B0A0A"/>
                </a:solidFill>
                <a:latin typeface="Poppins"/>
                <a:ea typeface="Poppins"/>
                <a:cs typeface="Poppins"/>
                <a:sym typeface="Poppins"/>
              </a:rPr>
              <a:t>eminjam dengan masa kerja 10+ tahun merupakan kelompok terbesar (</a:t>
            </a:r>
            <a:r>
              <a:rPr lang="en-US" b="true" sz="1999">
                <a:solidFill>
                  <a:srgbClr val="0B0A0A"/>
                </a:solidFill>
                <a:latin typeface="Poppins Bold"/>
                <a:ea typeface="Poppins Bold"/>
                <a:cs typeface="Poppins Bold"/>
                <a:sym typeface="Poppins Bold"/>
              </a:rPr>
              <a:t>33,7%</a:t>
            </a:r>
            <a:r>
              <a:rPr lang="en-US" sz="1999">
                <a:solidFill>
                  <a:srgbClr val="0B0A0A"/>
                </a:solidFill>
                <a:latin typeface="Poppins"/>
                <a:ea typeface="Poppins"/>
                <a:cs typeface="Poppins"/>
                <a:sym typeface="Poppins"/>
              </a:rPr>
              <a:t>), menunjukkan bahwa nasabah senior memiliki kecenderungan meminjam lebih tinggi. </a:t>
            </a:r>
          </a:p>
        </p:txBody>
      </p:sp>
      <p:sp>
        <p:nvSpPr>
          <p:cNvPr name="TextBox 15" id="15"/>
          <p:cNvSpPr txBox="true"/>
          <p:nvPr/>
        </p:nvSpPr>
        <p:spPr>
          <a:xfrm rot="0">
            <a:off x="9101640" y="6667243"/>
            <a:ext cx="6887668" cy="1063625"/>
          </a:xfrm>
          <a:prstGeom prst="rect">
            <a:avLst/>
          </a:prstGeom>
        </p:spPr>
        <p:txBody>
          <a:bodyPr anchor="t" rtlCol="false" tIns="0" lIns="0" bIns="0" rIns="0">
            <a:spAutoFit/>
          </a:bodyPr>
          <a:lstStyle/>
          <a:p>
            <a:pPr algn="ctr">
              <a:lnSpc>
                <a:spcPts val="2799"/>
              </a:lnSpc>
              <a:spcBef>
                <a:spcPct val="0"/>
              </a:spcBef>
            </a:pPr>
            <a:r>
              <a:rPr lang="en-US" sz="1999">
                <a:solidFill>
                  <a:srgbClr val="0B0A0A"/>
                </a:solidFill>
                <a:latin typeface="Poppins"/>
                <a:ea typeface="Poppins"/>
                <a:cs typeface="Poppins"/>
                <a:sym typeface="Poppins"/>
              </a:rPr>
              <a:t>Kelompok masa kerja 2 tahun dan 3 tahun berada di urutan berikutnya dengan proporsi masing-masing sekitar </a:t>
            </a:r>
            <a:r>
              <a:rPr lang="en-US" b="true" sz="1999">
                <a:solidFill>
                  <a:srgbClr val="0B0A0A"/>
                </a:solidFill>
                <a:latin typeface="Poppins Bold"/>
                <a:ea typeface="Poppins Bold"/>
                <a:cs typeface="Poppins Bold"/>
                <a:sym typeface="Poppins Bold"/>
              </a:rPr>
              <a:t>9%</a:t>
            </a:r>
            <a:r>
              <a:rPr lang="en-US" sz="1999">
                <a:solidFill>
                  <a:srgbClr val="0B0A0A"/>
                </a:solidFill>
                <a:latin typeface="Poppins"/>
                <a:ea typeface="Poppins"/>
                <a:cs typeface="Poppins"/>
                <a:sym typeface="Poppins"/>
              </a:rPr>
              <a:t> dan </a:t>
            </a:r>
            <a:r>
              <a:rPr lang="en-US" b="true" sz="1999">
                <a:solidFill>
                  <a:srgbClr val="0B0A0A"/>
                </a:solidFill>
                <a:latin typeface="Poppins Bold"/>
                <a:ea typeface="Poppins Bold"/>
                <a:cs typeface="Poppins Bold"/>
                <a:sym typeface="Poppins Bold"/>
              </a:rPr>
              <a:t>8%</a:t>
            </a:r>
            <a:r>
              <a:rPr lang="en-US" sz="1999">
                <a:solidFill>
                  <a:srgbClr val="0B0A0A"/>
                </a:solidFill>
                <a:latin typeface="Poppins"/>
                <a:ea typeface="Poppins"/>
                <a:cs typeface="Poppins"/>
                <a:sym typeface="Poppins"/>
              </a:rPr>
              <a:t>.</a:t>
            </a:r>
          </a:p>
        </p:txBody>
      </p:sp>
      <p:sp>
        <p:nvSpPr>
          <p:cNvPr name="Freeform 16" id="16"/>
          <p:cNvSpPr/>
          <p:nvPr/>
        </p:nvSpPr>
        <p:spPr>
          <a:xfrm flipH="false" flipV="false" rot="8996505">
            <a:off x="9172414" y="5080992"/>
            <a:ext cx="1494696" cy="1388199"/>
          </a:xfrm>
          <a:custGeom>
            <a:avLst/>
            <a:gdLst/>
            <a:ahLst/>
            <a:cxnLst/>
            <a:rect r="r" b="b" t="t" l="l"/>
            <a:pathLst>
              <a:path h="1388199" w="1494696">
                <a:moveTo>
                  <a:pt x="0" y="0"/>
                </a:moveTo>
                <a:lnTo>
                  <a:pt x="1494696" y="0"/>
                </a:lnTo>
                <a:lnTo>
                  <a:pt x="1494696" y="1388198"/>
                </a:lnTo>
                <a:lnTo>
                  <a:pt x="0" y="1388198"/>
                </a:lnTo>
                <a:lnTo>
                  <a:pt x="0" y="0"/>
                </a:lnTo>
                <a:close/>
              </a:path>
            </a:pathLst>
          </a:custGeom>
          <a:blipFill>
            <a:blip r:embed="rId5"/>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16165688" y="2361246"/>
            <a:ext cx="2007145" cy="2905078"/>
          </a:xfrm>
          <a:custGeom>
            <a:avLst/>
            <a:gdLst/>
            <a:ahLst/>
            <a:cxnLst/>
            <a:rect r="r" b="b" t="t" l="l"/>
            <a:pathLst>
              <a:path h="2905078" w="2007145">
                <a:moveTo>
                  <a:pt x="0" y="0"/>
                </a:moveTo>
                <a:lnTo>
                  <a:pt x="2007145" y="0"/>
                </a:lnTo>
                <a:lnTo>
                  <a:pt x="2007145" y="2905078"/>
                </a:lnTo>
                <a:lnTo>
                  <a:pt x="0" y="29050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6140560" y="-1635983"/>
            <a:ext cx="2007145" cy="2905078"/>
          </a:xfrm>
          <a:custGeom>
            <a:avLst/>
            <a:gdLst/>
            <a:ahLst/>
            <a:cxnLst/>
            <a:rect r="r" b="b" t="t" l="l"/>
            <a:pathLst>
              <a:path h="2905078" w="2007145">
                <a:moveTo>
                  <a:pt x="0" y="0"/>
                </a:moveTo>
                <a:lnTo>
                  <a:pt x="2007145" y="0"/>
                </a:lnTo>
                <a:lnTo>
                  <a:pt x="2007145" y="2905079"/>
                </a:lnTo>
                <a:lnTo>
                  <a:pt x="0" y="29050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10800000">
            <a:off x="16165688" y="360198"/>
            <a:ext cx="2007145" cy="2905078"/>
          </a:xfrm>
          <a:custGeom>
            <a:avLst/>
            <a:gdLst/>
            <a:ahLst/>
            <a:cxnLst/>
            <a:rect r="r" b="b" t="t" l="l"/>
            <a:pathLst>
              <a:path h="2905078" w="2007145">
                <a:moveTo>
                  <a:pt x="0" y="0"/>
                </a:moveTo>
                <a:lnTo>
                  <a:pt x="2007145" y="0"/>
                </a:lnTo>
                <a:lnTo>
                  <a:pt x="2007145" y="2905079"/>
                </a:lnTo>
                <a:lnTo>
                  <a:pt x="0" y="29050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0800000">
            <a:off x="16165688" y="8286557"/>
            <a:ext cx="2007145" cy="2905078"/>
          </a:xfrm>
          <a:custGeom>
            <a:avLst/>
            <a:gdLst/>
            <a:ahLst/>
            <a:cxnLst/>
            <a:rect r="r" b="b" t="t" l="l"/>
            <a:pathLst>
              <a:path h="2905078" w="2007145">
                <a:moveTo>
                  <a:pt x="0" y="0"/>
                </a:moveTo>
                <a:lnTo>
                  <a:pt x="2007145" y="0"/>
                </a:lnTo>
                <a:lnTo>
                  <a:pt x="2007145" y="2905078"/>
                </a:lnTo>
                <a:lnTo>
                  <a:pt x="0" y="29050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0800000">
            <a:off x="16165688" y="6323599"/>
            <a:ext cx="2007145" cy="2905078"/>
          </a:xfrm>
          <a:custGeom>
            <a:avLst/>
            <a:gdLst/>
            <a:ahLst/>
            <a:cxnLst/>
            <a:rect r="r" b="b" t="t" l="l"/>
            <a:pathLst>
              <a:path h="2905078" w="2007145">
                <a:moveTo>
                  <a:pt x="0" y="0"/>
                </a:moveTo>
                <a:lnTo>
                  <a:pt x="2007145" y="0"/>
                </a:lnTo>
                <a:lnTo>
                  <a:pt x="2007145" y="2905079"/>
                </a:lnTo>
                <a:lnTo>
                  <a:pt x="0" y="29050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16165688" y="4322552"/>
            <a:ext cx="2007145" cy="2905078"/>
          </a:xfrm>
          <a:custGeom>
            <a:avLst/>
            <a:gdLst/>
            <a:ahLst/>
            <a:cxnLst/>
            <a:rect r="r" b="b" t="t" l="l"/>
            <a:pathLst>
              <a:path h="2905078" w="2007145">
                <a:moveTo>
                  <a:pt x="0" y="0"/>
                </a:moveTo>
                <a:lnTo>
                  <a:pt x="2007145" y="0"/>
                </a:lnTo>
                <a:lnTo>
                  <a:pt x="2007145" y="2905078"/>
                </a:lnTo>
                <a:lnTo>
                  <a:pt x="0" y="29050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5400000">
            <a:off x="10070506" y="-3223722"/>
            <a:ext cx="2224599" cy="9392439"/>
            <a:chOff x="0" y="0"/>
            <a:chExt cx="585903" cy="2473729"/>
          </a:xfrm>
        </p:grpSpPr>
        <p:sp>
          <p:nvSpPr>
            <p:cNvPr name="Freeform 9" id="9"/>
            <p:cNvSpPr/>
            <p:nvPr/>
          </p:nvSpPr>
          <p:spPr>
            <a:xfrm flipH="false" flipV="false" rot="0">
              <a:off x="0" y="0"/>
              <a:ext cx="585903" cy="2473729"/>
            </a:xfrm>
            <a:custGeom>
              <a:avLst/>
              <a:gdLst/>
              <a:ahLst/>
              <a:cxnLst/>
              <a:rect r="r" b="b" t="t" l="l"/>
              <a:pathLst>
                <a:path h="2473729" w="585903">
                  <a:moveTo>
                    <a:pt x="278411" y="0"/>
                  </a:moveTo>
                  <a:lnTo>
                    <a:pt x="307491" y="0"/>
                  </a:lnTo>
                  <a:cubicBezTo>
                    <a:pt x="381330" y="0"/>
                    <a:pt x="452146" y="29333"/>
                    <a:pt x="504358" y="81545"/>
                  </a:cubicBezTo>
                  <a:cubicBezTo>
                    <a:pt x="556570" y="133757"/>
                    <a:pt x="585903" y="204572"/>
                    <a:pt x="585903" y="278411"/>
                  </a:cubicBezTo>
                  <a:lnTo>
                    <a:pt x="585903" y="2195318"/>
                  </a:lnTo>
                  <a:cubicBezTo>
                    <a:pt x="585903" y="2349080"/>
                    <a:pt x="461254" y="2473729"/>
                    <a:pt x="307491" y="2473729"/>
                  </a:cubicBezTo>
                  <a:lnTo>
                    <a:pt x="278411" y="2473729"/>
                  </a:lnTo>
                  <a:cubicBezTo>
                    <a:pt x="124649" y="2473729"/>
                    <a:pt x="0" y="2349080"/>
                    <a:pt x="0" y="2195318"/>
                  </a:cubicBezTo>
                  <a:lnTo>
                    <a:pt x="0" y="278411"/>
                  </a:lnTo>
                  <a:cubicBezTo>
                    <a:pt x="0" y="124649"/>
                    <a:pt x="124649" y="0"/>
                    <a:pt x="278411" y="0"/>
                  </a:cubicBezTo>
                  <a:close/>
                </a:path>
              </a:pathLst>
            </a:custGeom>
            <a:gradFill rotWithShape="true">
              <a:gsLst>
                <a:gs pos="0">
                  <a:srgbClr val="DBED92">
                    <a:alpha val="100000"/>
                  </a:srgbClr>
                </a:gs>
                <a:gs pos="100000">
                  <a:srgbClr val="89D957">
                    <a:alpha val="100000"/>
                  </a:srgbClr>
                </a:gs>
              </a:gsLst>
              <a:lin ang="2700000"/>
            </a:gradFill>
          </p:spPr>
        </p:sp>
        <p:sp>
          <p:nvSpPr>
            <p:cNvPr name="TextBox 10" id="10"/>
            <p:cNvSpPr txBox="true"/>
            <p:nvPr/>
          </p:nvSpPr>
          <p:spPr>
            <a:xfrm>
              <a:off x="0" y="-57150"/>
              <a:ext cx="585903" cy="2530879"/>
            </a:xfrm>
            <a:prstGeom prst="rect">
              <a:avLst/>
            </a:prstGeom>
          </p:spPr>
          <p:txBody>
            <a:bodyPr anchor="ctr" rtlCol="false" tIns="50800" lIns="50800" bIns="50800" rIns="50800"/>
            <a:lstStyle/>
            <a:p>
              <a:pPr algn="ctr">
                <a:lnSpc>
                  <a:spcPts val="2799"/>
                </a:lnSpc>
              </a:pPr>
            </a:p>
          </p:txBody>
        </p:sp>
      </p:grpSp>
      <p:sp>
        <p:nvSpPr>
          <p:cNvPr name="TextBox 11" id="11"/>
          <p:cNvSpPr txBox="true"/>
          <p:nvPr/>
        </p:nvSpPr>
        <p:spPr>
          <a:xfrm rot="0">
            <a:off x="9519693" y="3926995"/>
            <a:ext cx="6049104" cy="1168550"/>
          </a:xfrm>
          <a:prstGeom prst="rect">
            <a:avLst/>
          </a:prstGeom>
        </p:spPr>
        <p:txBody>
          <a:bodyPr anchor="t" rtlCol="false" tIns="0" lIns="0" bIns="0" rIns="0">
            <a:spAutoFit/>
          </a:bodyPr>
          <a:lstStyle/>
          <a:p>
            <a:pPr algn="just">
              <a:lnSpc>
                <a:spcPts val="3065"/>
              </a:lnSpc>
              <a:spcBef>
                <a:spcPct val="0"/>
              </a:spcBef>
            </a:pPr>
            <a:r>
              <a:rPr lang="en-US" b="true" sz="2189">
                <a:solidFill>
                  <a:srgbClr val="0B0A0A"/>
                </a:solidFill>
                <a:latin typeface="Poppins Bold"/>
                <a:ea typeface="Poppins Bold"/>
                <a:cs typeface="Poppins Bold"/>
                <a:sym typeface="Poppins Bold"/>
              </a:rPr>
              <a:t>Grade B </a:t>
            </a:r>
            <a:r>
              <a:rPr lang="en-US" sz="2189">
                <a:solidFill>
                  <a:srgbClr val="0B0A0A"/>
                </a:solidFill>
                <a:latin typeface="Poppins"/>
                <a:ea typeface="Poppins"/>
                <a:cs typeface="Poppins"/>
                <a:sym typeface="Poppins"/>
              </a:rPr>
              <a:t>(</a:t>
            </a:r>
            <a:r>
              <a:rPr lang="en-US" b="true" sz="2189">
                <a:solidFill>
                  <a:srgbClr val="0B0A0A"/>
                </a:solidFill>
                <a:latin typeface="Poppins Bold"/>
                <a:ea typeface="Poppins Bold"/>
                <a:cs typeface="Poppins Bold"/>
                <a:sym typeface="Poppins Bold"/>
              </a:rPr>
              <a:t>29,4%</a:t>
            </a:r>
            <a:r>
              <a:rPr lang="en-US" sz="2189">
                <a:solidFill>
                  <a:srgbClr val="0B0A0A"/>
                </a:solidFill>
                <a:latin typeface="Poppins"/>
                <a:ea typeface="Poppins"/>
                <a:cs typeface="Poppins"/>
                <a:sym typeface="Poppins"/>
              </a:rPr>
              <a:t>) dan </a:t>
            </a:r>
            <a:r>
              <a:rPr lang="en-US" b="true" sz="2189">
                <a:solidFill>
                  <a:srgbClr val="0B0A0A"/>
                </a:solidFill>
                <a:latin typeface="Poppins Bold"/>
                <a:ea typeface="Poppins Bold"/>
                <a:cs typeface="Poppins Bold"/>
                <a:sym typeface="Poppins Bold"/>
              </a:rPr>
              <a:t>Grade C</a:t>
            </a:r>
            <a:r>
              <a:rPr lang="en-US" sz="2189">
                <a:solidFill>
                  <a:srgbClr val="0B0A0A"/>
                </a:solidFill>
                <a:latin typeface="Poppins"/>
                <a:ea typeface="Poppins"/>
                <a:cs typeface="Poppins"/>
                <a:sym typeface="Poppins"/>
              </a:rPr>
              <a:t> (</a:t>
            </a:r>
            <a:r>
              <a:rPr lang="en-US" b="true" sz="2189">
                <a:solidFill>
                  <a:srgbClr val="0B0A0A"/>
                </a:solidFill>
                <a:latin typeface="Poppins Bold"/>
                <a:ea typeface="Poppins Bold"/>
                <a:cs typeface="Poppins Bold"/>
                <a:sym typeface="Poppins Bold"/>
              </a:rPr>
              <a:t>26,9%</a:t>
            </a:r>
            <a:r>
              <a:rPr lang="en-US" sz="2189">
                <a:solidFill>
                  <a:srgbClr val="0B0A0A"/>
                </a:solidFill>
                <a:latin typeface="Poppins"/>
                <a:ea typeface="Poppins"/>
                <a:cs typeface="Poppins"/>
                <a:sym typeface="Poppins"/>
              </a:rPr>
              <a:t>) mendominasi dataset, mencerminkan nasabah dengan risiko menengah.</a:t>
            </a:r>
          </a:p>
        </p:txBody>
      </p:sp>
      <p:sp>
        <p:nvSpPr>
          <p:cNvPr name="TextBox 12" id="12"/>
          <p:cNvSpPr txBox="true"/>
          <p:nvPr/>
        </p:nvSpPr>
        <p:spPr>
          <a:xfrm rot="0">
            <a:off x="10713108" y="5939424"/>
            <a:ext cx="4855690" cy="1063625"/>
          </a:xfrm>
          <a:prstGeom prst="rect">
            <a:avLst/>
          </a:prstGeom>
        </p:spPr>
        <p:txBody>
          <a:bodyPr anchor="t" rtlCol="false" tIns="0" lIns="0" bIns="0" rIns="0">
            <a:spAutoFit/>
          </a:bodyPr>
          <a:lstStyle/>
          <a:p>
            <a:pPr algn="ctr">
              <a:lnSpc>
                <a:spcPts val="2799"/>
              </a:lnSpc>
              <a:spcBef>
                <a:spcPct val="0"/>
              </a:spcBef>
            </a:pPr>
            <a:r>
              <a:rPr lang="en-US" sz="1999">
                <a:solidFill>
                  <a:srgbClr val="0B0A0A"/>
                </a:solidFill>
                <a:latin typeface="Poppins"/>
                <a:ea typeface="Poppins"/>
                <a:cs typeface="Poppins"/>
                <a:sym typeface="Poppins"/>
              </a:rPr>
              <a:t>N</a:t>
            </a:r>
            <a:r>
              <a:rPr lang="en-US" sz="1999">
                <a:solidFill>
                  <a:srgbClr val="0B0A0A"/>
                </a:solidFill>
                <a:latin typeface="Poppins"/>
                <a:ea typeface="Poppins"/>
                <a:cs typeface="Poppins"/>
                <a:sym typeface="Poppins"/>
              </a:rPr>
              <a:t>asabah Grade A (Risiko paling rendah) hanya mencakup 16,1% dari total populasi. </a:t>
            </a:r>
          </a:p>
        </p:txBody>
      </p:sp>
      <p:sp>
        <p:nvSpPr>
          <p:cNvPr name="Freeform 13" id="13"/>
          <p:cNvSpPr/>
          <p:nvPr/>
        </p:nvSpPr>
        <p:spPr>
          <a:xfrm flipH="false" flipV="false" rot="0">
            <a:off x="954679" y="3503402"/>
            <a:ext cx="8069656" cy="4811532"/>
          </a:xfrm>
          <a:custGeom>
            <a:avLst/>
            <a:gdLst/>
            <a:ahLst/>
            <a:cxnLst/>
            <a:rect r="r" b="b" t="t" l="l"/>
            <a:pathLst>
              <a:path h="4811532" w="8069656">
                <a:moveTo>
                  <a:pt x="0" y="0"/>
                </a:moveTo>
                <a:lnTo>
                  <a:pt x="8069656" y="0"/>
                </a:lnTo>
                <a:lnTo>
                  <a:pt x="8069656" y="4811532"/>
                </a:lnTo>
                <a:lnTo>
                  <a:pt x="0" y="4811532"/>
                </a:lnTo>
                <a:lnTo>
                  <a:pt x="0" y="0"/>
                </a:lnTo>
                <a:close/>
              </a:path>
            </a:pathLst>
          </a:custGeom>
          <a:blipFill>
            <a:blip r:embed="rId4"/>
            <a:stretch>
              <a:fillRect l="0" t="0" r="0" b="0"/>
            </a:stretch>
          </a:blipFill>
        </p:spPr>
      </p:sp>
      <p:sp>
        <p:nvSpPr>
          <p:cNvPr name="TextBox 14" id="14"/>
          <p:cNvSpPr txBox="true"/>
          <p:nvPr/>
        </p:nvSpPr>
        <p:spPr>
          <a:xfrm rot="0">
            <a:off x="6892011" y="570797"/>
            <a:ext cx="8676787" cy="1698625"/>
          </a:xfrm>
          <a:prstGeom prst="rect">
            <a:avLst/>
          </a:prstGeom>
        </p:spPr>
        <p:txBody>
          <a:bodyPr anchor="t" rtlCol="false" tIns="0" lIns="0" bIns="0" rIns="0">
            <a:spAutoFit/>
          </a:bodyPr>
          <a:lstStyle/>
          <a:p>
            <a:pPr algn="r">
              <a:lnSpc>
                <a:spcPts val="6050"/>
              </a:lnSpc>
            </a:pPr>
            <a:r>
              <a:rPr lang="en-US" sz="5500" b="true">
                <a:solidFill>
                  <a:srgbClr val="0B0A0A"/>
                </a:solidFill>
                <a:latin typeface="Agrandir Bold"/>
                <a:ea typeface="Agrandir Bold"/>
                <a:cs typeface="Agrandir Bold"/>
                <a:sym typeface="Agrandir Bold"/>
              </a:rPr>
              <a:t>Top Insight (Exploratory Data Analysis)</a:t>
            </a:r>
          </a:p>
        </p:txBody>
      </p:sp>
      <p:sp>
        <p:nvSpPr>
          <p:cNvPr name="TextBox 15" id="15"/>
          <p:cNvSpPr txBox="true"/>
          <p:nvPr/>
        </p:nvSpPr>
        <p:spPr>
          <a:xfrm rot="0">
            <a:off x="954679" y="2748386"/>
            <a:ext cx="8189321" cy="516890"/>
          </a:xfrm>
          <a:prstGeom prst="rect">
            <a:avLst/>
          </a:prstGeom>
        </p:spPr>
        <p:txBody>
          <a:bodyPr anchor="t" rtlCol="false" tIns="0" lIns="0" bIns="0" rIns="0">
            <a:spAutoFit/>
          </a:bodyPr>
          <a:lstStyle/>
          <a:p>
            <a:pPr algn="l">
              <a:lnSpc>
                <a:spcPts val="4059"/>
              </a:lnSpc>
              <a:spcBef>
                <a:spcPct val="0"/>
              </a:spcBef>
            </a:pPr>
            <a:r>
              <a:rPr lang="en-US" sz="2899">
                <a:solidFill>
                  <a:srgbClr val="0B0A0A"/>
                </a:solidFill>
                <a:latin typeface="Poppins"/>
                <a:ea typeface="Poppins"/>
                <a:cs typeface="Poppins"/>
                <a:sym typeface="Poppins"/>
              </a:rPr>
              <a:t>3. </a:t>
            </a:r>
            <a:r>
              <a:rPr lang="en-US" b="true" sz="2899">
                <a:solidFill>
                  <a:srgbClr val="0B0A0A"/>
                </a:solidFill>
                <a:latin typeface="Poppins Bold"/>
                <a:ea typeface="Poppins Bold"/>
                <a:cs typeface="Poppins Bold"/>
                <a:sym typeface="Poppins Bold"/>
              </a:rPr>
              <a:t>Karakteristik Risiko Berdasarkan Grade</a:t>
            </a:r>
          </a:p>
        </p:txBody>
      </p:sp>
      <p:sp>
        <p:nvSpPr>
          <p:cNvPr name="Freeform 16" id="16"/>
          <p:cNvSpPr/>
          <p:nvPr/>
        </p:nvSpPr>
        <p:spPr>
          <a:xfrm flipH="false" flipV="false" rot="-578622">
            <a:off x="9344559" y="5732185"/>
            <a:ext cx="1048281" cy="1182828"/>
          </a:xfrm>
          <a:custGeom>
            <a:avLst/>
            <a:gdLst/>
            <a:ahLst/>
            <a:cxnLst/>
            <a:rect r="r" b="b" t="t" l="l"/>
            <a:pathLst>
              <a:path h="1182828" w="1048281">
                <a:moveTo>
                  <a:pt x="0" y="0"/>
                </a:moveTo>
                <a:lnTo>
                  <a:pt x="1048281" y="0"/>
                </a:lnTo>
                <a:lnTo>
                  <a:pt x="1048281" y="1182828"/>
                </a:lnTo>
                <a:lnTo>
                  <a:pt x="0" y="1182828"/>
                </a:lnTo>
                <a:lnTo>
                  <a:pt x="0" y="0"/>
                </a:lnTo>
                <a:close/>
              </a:path>
            </a:pathLst>
          </a:custGeom>
          <a:blipFill>
            <a:blip r:embed="rId5"/>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16165688" y="2361246"/>
            <a:ext cx="2007145" cy="2905078"/>
          </a:xfrm>
          <a:custGeom>
            <a:avLst/>
            <a:gdLst/>
            <a:ahLst/>
            <a:cxnLst/>
            <a:rect r="r" b="b" t="t" l="l"/>
            <a:pathLst>
              <a:path h="2905078" w="2007145">
                <a:moveTo>
                  <a:pt x="0" y="0"/>
                </a:moveTo>
                <a:lnTo>
                  <a:pt x="2007145" y="0"/>
                </a:lnTo>
                <a:lnTo>
                  <a:pt x="2007145" y="2905078"/>
                </a:lnTo>
                <a:lnTo>
                  <a:pt x="0" y="29050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6140560" y="-1635983"/>
            <a:ext cx="2007145" cy="2905078"/>
          </a:xfrm>
          <a:custGeom>
            <a:avLst/>
            <a:gdLst/>
            <a:ahLst/>
            <a:cxnLst/>
            <a:rect r="r" b="b" t="t" l="l"/>
            <a:pathLst>
              <a:path h="2905078" w="2007145">
                <a:moveTo>
                  <a:pt x="0" y="0"/>
                </a:moveTo>
                <a:lnTo>
                  <a:pt x="2007145" y="0"/>
                </a:lnTo>
                <a:lnTo>
                  <a:pt x="2007145" y="2905079"/>
                </a:lnTo>
                <a:lnTo>
                  <a:pt x="0" y="29050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10800000">
            <a:off x="16165688" y="360198"/>
            <a:ext cx="2007145" cy="2905078"/>
          </a:xfrm>
          <a:custGeom>
            <a:avLst/>
            <a:gdLst/>
            <a:ahLst/>
            <a:cxnLst/>
            <a:rect r="r" b="b" t="t" l="l"/>
            <a:pathLst>
              <a:path h="2905078" w="2007145">
                <a:moveTo>
                  <a:pt x="0" y="0"/>
                </a:moveTo>
                <a:lnTo>
                  <a:pt x="2007145" y="0"/>
                </a:lnTo>
                <a:lnTo>
                  <a:pt x="2007145" y="2905079"/>
                </a:lnTo>
                <a:lnTo>
                  <a:pt x="0" y="29050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0800000">
            <a:off x="16165688" y="8286557"/>
            <a:ext cx="2007145" cy="2905078"/>
          </a:xfrm>
          <a:custGeom>
            <a:avLst/>
            <a:gdLst/>
            <a:ahLst/>
            <a:cxnLst/>
            <a:rect r="r" b="b" t="t" l="l"/>
            <a:pathLst>
              <a:path h="2905078" w="2007145">
                <a:moveTo>
                  <a:pt x="0" y="0"/>
                </a:moveTo>
                <a:lnTo>
                  <a:pt x="2007145" y="0"/>
                </a:lnTo>
                <a:lnTo>
                  <a:pt x="2007145" y="2905078"/>
                </a:lnTo>
                <a:lnTo>
                  <a:pt x="0" y="29050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0800000">
            <a:off x="16165688" y="6323599"/>
            <a:ext cx="2007145" cy="2905078"/>
          </a:xfrm>
          <a:custGeom>
            <a:avLst/>
            <a:gdLst/>
            <a:ahLst/>
            <a:cxnLst/>
            <a:rect r="r" b="b" t="t" l="l"/>
            <a:pathLst>
              <a:path h="2905078" w="2007145">
                <a:moveTo>
                  <a:pt x="0" y="0"/>
                </a:moveTo>
                <a:lnTo>
                  <a:pt x="2007145" y="0"/>
                </a:lnTo>
                <a:lnTo>
                  <a:pt x="2007145" y="2905079"/>
                </a:lnTo>
                <a:lnTo>
                  <a:pt x="0" y="29050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16165688" y="4322552"/>
            <a:ext cx="2007145" cy="2905078"/>
          </a:xfrm>
          <a:custGeom>
            <a:avLst/>
            <a:gdLst/>
            <a:ahLst/>
            <a:cxnLst/>
            <a:rect r="r" b="b" t="t" l="l"/>
            <a:pathLst>
              <a:path h="2905078" w="2007145">
                <a:moveTo>
                  <a:pt x="0" y="0"/>
                </a:moveTo>
                <a:lnTo>
                  <a:pt x="2007145" y="0"/>
                </a:lnTo>
                <a:lnTo>
                  <a:pt x="2007145" y="2905078"/>
                </a:lnTo>
                <a:lnTo>
                  <a:pt x="0" y="29050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5400000">
            <a:off x="10070506" y="-3223722"/>
            <a:ext cx="2224599" cy="9392439"/>
            <a:chOff x="0" y="0"/>
            <a:chExt cx="585903" cy="2473729"/>
          </a:xfrm>
        </p:grpSpPr>
        <p:sp>
          <p:nvSpPr>
            <p:cNvPr name="Freeform 9" id="9"/>
            <p:cNvSpPr/>
            <p:nvPr/>
          </p:nvSpPr>
          <p:spPr>
            <a:xfrm flipH="false" flipV="false" rot="0">
              <a:off x="0" y="0"/>
              <a:ext cx="585903" cy="2473729"/>
            </a:xfrm>
            <a:custGeom>
              <a:avLst/>
              <a:gdLst/>
              <a:ahLst/>
              <a:cxnLst/>
              <a:rect r="r" b="b" t="t" l="l"/>
              <a:pathLst>
                <a:path h="2473729" w="585903">
                  <a:moveTo>
                    <a:pt x="278411" y="0"/>
                  </a:moveTo>
                  <a:lnTo>
                    <a:pt x="307491" y="0"/>
                  </a:lnTo>
                  <a:cubicBezTo>
                    <a:pt x="381330" y="0"/>
                    <a:pt x="452146" y="29333"/>
                    <a:pt x="504358" y="81545"/>
                  </a:cubicBezTo>
                  <a:cubicBezTo>
                    <a:pt x="556570" y="133757"/>
                    <a:pt x="585903" y="204572"/>
                    <a:pt x="585903" y="278411"/>
                  </a:cubicBezTo>
                  <a:lnTo>
                    <a:pt x="585903" y="2195318"/>
                  </a:lnTo>
                  <a:cubicBezTo>
                    <a:pt x="585903" y="2349080"/>
                    <a:pt x="461254" y="2473729"/>
                    <a:pt x="307491" y="2473729"/>
                  </a:cubicBezTo>
                  <a:lnTo>
                    <a:pt x="278411" y="2473729"/>
                  </a:lnTo>
                  <a:cubicBezTo>
                    <a:pt x="124649" y="2473729"/>
                    <a:pt x="0" y="2349080"/>
                    <a:pt x="0" y="2195318"/>
                  </a:cubicBezTo>
                  <a:lnTo>
                    <a:pt x="0" y="278411"/>
                  </a:lnTo>
                  <a:cubicBezTo>
                    <a:pt x="0" y="124649"/>
                    <a:pt x="124649" y="0"/>
                    <a:pt x="278411" y="0"/>
                  </a:cubicBezTo>
                  <a:close/>
                </a:path>
              </a:pathLst>
            </a:custGeom>
            <a:gradFill rotWithShape="true">
              <a:gsLst>
                <a:gs pos="0">
                  <a:srgbClr val="DBED92">
                    <a:alpha val="100000"/>
                  </a:srgbClr>
                </a:gs>
                <a:gs pos="100000">
                  <a:srgbClr val="89D957">
                    <a:alpha val="100000"/>
                  </a:srgbClr>
                </a:gs>
              </a:gsLst>
              <a:lin ang="2700000"/>
            </a:gradFill>
          </p:spPr>
        </p:sp>
        <p:sp>
          <p:nvSpPr>
            <p:cNvPr name="TextBox 10" id="10"/>
            <p:cNvSpPr txBox="true"/>
            <p:nvPr/>
          </p:nvSpPr>
          <p:spPr>
            <a:xfrm>
              <a:off x="0" y="-57150"/>
              <a:ext cx="585903" cy="2530879"/>
            </a:xfrm>
            <a:prstGeom prst="rect">
              <a:avLst/>
            </a:prstGeom>
          </p:spPr>
          <p:txBody>
            <a:bodyPr anchor="ctr" rtlCol="false" tIns="50800" lIns="50800" bIns="50800" rIns="50800"/>
            <a:lstStyle/>
            <a:p>
              <a:pPr algn="ctr">
                <a:lnSpc>
                  <a:spcPts val="2799"/>
                </a:lnSpc>
              </a:pPr>
            </a:p>
          </p:txBody>
        </p:sp>
      </p:grpSp>
      <p:sp>
        <p:nvSpPr>
          <p:cNvPr name="Freeform 11" id="11"/>
          <p:cNvSpPr/>
          <p:nvPr/>
        </p:nvSpPr>
        <p:spPr>
          <a:xfrm flipH="false" flipV="false" rot="0">
            <a:off x="869836" y="3503402"/>
            <a:ext cx="10167200" cy="5032764"/>
          </a:xfrm>
          <a:custGeom>
            <a:avLst/>
            <a:gdLst/>
            <a:ahLst/>
            <a:cxnLst/>
            <a:rect r="r" b="b" t="t" l="l"/>
            <a:pathLst>
              <a:path h="5032764" w="10167200">
                <a:moveTo>
                  <a:pt x="0" y="0"/>
                </a:moveTo>
                <a:lnTo>
                  <a:pt x="10167200" y="0"/>
                </a:lnTo>
                <a:lnTo>
                  <a:pt x="10167200" y="5032764"/>
                </a:lnTo>
                <a:lnTo>
                  <a:pt x="0" y="5032764"/>
                </a:lnTo>
                <a:lnTo>
                  <a:pt x="0" y="0"/>
                </a:lnTo>
                <a:close/>
              </a:path>
            </a:pathLst>
          </a:custGeom>
          <a:blipFill>
            <a:blip r:embed="rId4"/>
            <a:stretch>
              <a:fillRect l="0" t="0" r="0" b="0"/>
            </a:stretch>
          </a:blipFill>
        </p:spPr>
      </p:sp>
      <p:sp>
        <p:nvSpPr>
          <p:cNvPr name="TextBox 12" id="12"/>
          <p:cNvSpPr txBox="true"/>
          <p:nvPr/>
        </p:nvSpPr>
        <p:spPr>
          <a:xfrm rot="0">
            <a:off x="6892011" y="570797"/>
            <a:ext cx="8676787" cy="1698625"/>
          </a:xfrm>
          <a:prstGeom prst="rect">
            <a:avLst/>
          </a:prstGeom>
        </p:spPr>
        <p:txBody>
          <a:bodyPr anchor="t" rtlCol="false" tIns="0" lIns="0" bIns="0" rIns="0">
            <a:spAutoFit/>
          </a:bodyPr>
          <a:lstStyle/>
          <a:p>
            <a:pPr algn="r">
              <a:lnSpc>
                <a:spcPts val="6050"/>
              </a:lnSpc>
            </a:pPr>
            <a:r>
              <a:rPr lang="en-US" sz="5500" b="true">
                <a:solidFill>
                  <a:srgbClr val="0B0A0A"/>
                </a:solidFill>
                <a:latin typeface="Agrandir Bold"/>
                <a:ea typeface="Agrandir Bold"/>
                <a:cs typeface="Agrandir Bold"/>
                <a:sym typeface="Agrandir Bold"/>
              </a:rPr>
              <a:t>Top Insight (Exploratory Data Analysis)</a:t>
            </a:r>
          </a:p>
        </p:txBody>
      </p:sp>
      <p:sp>
        <p:nvSpPr>
          <p:cNvPr name="TextBox 13" id="13"/>
          <p:cNvSpPr txBox="true"/>
          <p:nvPr/>
        </p:nvSpPr>
        <p:spPr>
          <a:xfrm rot="0">
            <a:off x="954679" y="2748386"/>
            <a:ext cx="8189321" cy="516890"/>
          </a:xfrm>
          <a:prstGeom prst="rect">
            <a:avLst/>
          </a:prstGeom>
        </p:spPr>
        <p:txBody>
          <a:bodyPr anchor="t" rtlCol="false" tIns="0" lIns="0" bIns="0" rIns="0">
            <a:spAutoFit/>
          </a:bodyPr>
          <a:lstStyle/>
          <a:p>
            <a:pPr algn="l">
              <a:lnSpc>
                <a:spcPts val="4059"/>
              </a:lnSpc>
              <a:spcBef>
                <a:spcPct val="0"/>
              </a:spcBef>
            </a:pPr>
            <a:r>
              <a:rPr lang="en-US" sz="2899">
                <a:solidFill>
                  <a:srgbClr val="0B0A0A"/>
                </a:solidFill>
                <a:latin typeface="Poppins"/>
                <a:ea typeface="Poppins"/>
                <a:cs typeface="Poppins"/>
                <a:sym typeface="Poppins"/>
              </a:rPr>
              <a:t>4. </a:t>
            </a:r>
            <a:r>
              <a:rPr lang="en-US" b="true" sz="2899">
                <a:solidFill>
                  <a:srgbClr val="0B0A0A"/>
                </a:solidFill>
                <a:latin typeface="Poppins Bold"/>
                <a:ea typeface="Poppins Bold"/>
                <a:cs typeface="Poppins Bold"/>
                <a:sym typeface="Poppins Bold"/>
              </a:rPr>
              <a:t>Status Kepemilikan Rumah</a:t>
            </a:r>
          </a:p>
        </p:txBody>
      </p:sp>
      <p:sp>
        <p:nvSpPr>
          <p:cNvPr name="TextBox 14" id="14"/>
          <p:cNvSpPr txBox="true"/>
          <p:nvPr/>
        </p:nvSpPr>
        <p:spPr>
          <a:xfrm rot="0">
            <a:off x="11487994" y="4862278"/>
            <a:ext cx="4226736" cy="1768475"/>
          </a:xfrm>
          <a:prstGeom prst="rect">
            <a:avLst/>
          </a:prstGeom>
        </p:spPr>
        <p:txBody>
          <a:bodyPr anchor="t" rtlCol="false" tIns="0" lIns="0" bIns="0" rIns="0">
            <a:spAutoFit/>
          </a:bodyPr>
          <a:lstStyle/>
          <a:p>
            <a:pPr algn="ctr">
              <a:lnSpc>
                <a:spcPts val="2799"/>
              </a:lnSpc>
              <a:spcBef>
                <a:spcPct val="0"/>
              </a:spcBef>
            </a:pPr>
            <a:r>
              <a:rPr lang="en-US" sz="1999">
                <a:solidFill>
                  <a:srgbClr val="0B0A0A"/>
                </a:solidFill>
                <a:latin typeface="Poppins"/>
                <a:ea typeface="Poppins"/>
                <a:cs typeface="Poppins"/>
                <a:sym typeface="Poppins"/>
              </a:rPr>
              <a:t>Sebanyak </a:t>
            </a:r>
            <a:r>
              <a:rPr lang="en-US" b="true" sz="1999">
                <a:solidFill>
                  <a:srgbClr val="0B0A0A"/>
                </a:solidFill>
                <a:latin typeface="Poppins Bold"/>
                <a:ea typeface="Poppins Bold"/>
                <a:cs typeface="Poppins Bold"/>
                <a:sym typeface="Poppins Bold"/>
              </a:rPr>
              <a:t>50,6%</a:t>
            </a:r>
            <a:r>
              <a:rPr lang="en-US" sz="1999">
                <a:solidFill>
                  <a:srgbClr val="0B0A0A"/>
                </a:solidFill>
                <a:latin typeface="Poppins"/>
                <a:ea typeface="Poppins"/>
                <a:cs typeface="Poppins"/>
                <a:sym typeface="Poppins"/>
              </a:rPr>
              <a:t> nasabah memiliki status MORTGAGE (KPR), diikuti oleh nasabah yang menyewa rumah (RENT) sebesar </a:t>
            </a:r>
            <a:r>
              <a:rPr lang="en-US" b="true" sz="1999">
                <a:solidFill>
                  <a:srgbClr val="0B0A0A"/>
                </a:solidFill>
                <a:latin typeface="Poppins Bold"/>
                <a:ea typeface="Poppins Bold"/>
                <a:cs typeface="Poppins Bold"/>
                <a:sym typeface="Poppins Bold"/>
              </a:rPr>
              <a:t>40,4%.</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grpSp>
        <p:nvGrpSpPr>
          <p:cNvPr name="Group 2" id="2"/>
          <p:cNvGrpSpPr/>
          <p:nvPr/>
        </p:nvGrpSpPr>
        <p:grpSpPr>
          <a:xfrm rot="5400000">
            <a:off x="2508543" y="-2822300"/>
            <a:ext cx="1701179" cy="8606294"/>
            <a:chOff x="0" y="0"/>
            <a:chExt cx="448047" cy="2266678"/>
          </a:xfrm>
        </p:grpSpPr>
        <p:sp>
          <p:nvSpPr>
            <p:cNvPr name="Freeform 3" id="3"/>
            <p:cNvSpPr/>
            <p:nvPr/>
          </p:nvSpPr>
          <p:spPr>
            <a:xfrm flipH="false" flipV="false" rot="0">
              <a:off x="0" y="0"/>
              <a:ext cx="448047" cy="2266678"/>
            </a:xfrm>
            <a:custGeom>
              <a:avLst/>
              <a:gdLst/>
              <a:ahLst/>
              <a:cxnLst/>
              <a:rect r="r" b="b" t="t" l="l"/>
              <a:pathLst>
                <a:path h="2266678" w="448047">
                  <a:moveTo>
                    <a:pt x="224024" y="0"/>
                  </a:moveTo>
                  <a:lnTo>
                    <a:pt x="224024" y="0"/>
                  </a:lnTo>
                  <a:cubicBezTo>
                    <a:pt x="283438" y="0"/>
                    <a:pt x="340420" y="23602"/>
                    <a:pt x="382432" y="65615"/>
                  </a:cubicBezTo>
                  <a:cubicBezTo>
                    <a:pt x="424445" y="107628"/>
                    <a:pt x="448047" y="164609"/>
                    <a:pt x="448047" y="224024"/>
                  </a:cubicBezTo>
                  <a:lnTo>
                    <a:pt x="448047" y="2042655"/>
                  </a:lnTo>
                  <a:cubicBezTo>
                    <a:pt x="448047" y="2102070"/>
                    <a:pt x="424445" y="2159051"/>
                    <a:pt x="382432" y="2201063"/>
                  </a:cubicBezTo>
                  <a:cubicBezTo>
                    <a:pt x="340420" y="2243076"/>
                    <a:pt x="283438" y="2266678"/>
                    <a:pt x="224024" y="2266678"/>
                  </a:cubicBezTo>
                  <a:lnTo>
                    <a:pt x="224024" y="2266678"/>
                  </a:lnTo>
                  <a:cubicBezTo>
                    <a:pt x="100299" y="2266678"/>
                    <a:pt x="0" y="2166380"/>
                    <a:pt x="0" y="2042655"/>
                  </a:cubicBezTo>
                  <a:lnTo>
                    <a:pt x="0" y="224024"/>
                  </a:lnTo>
                  <a:cubicBezTo>
                    <a:pt x="0" y="100299"/>
                    <a:pt x="100299" y="0"/>
                    <a:pt x="224024" y="0"/>
                  </a:cubicBezTo>
                  <a:close/>
                </a:path>
              </a:pathLst>
            </a:custGeom>
            <a:gradFill rotWithShape="true">
              <a:gsLst>
                <a:gs pos="0">
                  <a:srgbClr val="DBED92">
                    <a:alpha val="100000"/>
                  </a:srgbClr>
                </a:gs>
                <a:gs pos="100000">
                  <a:srgbClr val="89D957">
                    <a:alpha val="100000"/>
                  </a:srgbClr>
                </a:gs>
              </a:gsLst>
              <a:lin ang="2700000"/>
            </a:gradFill>
          </p:spPr>
        </p:sp>
        <p:sp>
          <p:nvSpPr>
            <p:cNvPr name="TextBox 4" id="4"/>
            <p:cNvSpPr txBox="true"/>
            <p:nvPr/>
          </p:nvSpPr>
          <p:spPr>
            <a:xfrm>
              <a:off x="0" y="-57150"/>
              <a:ext cx="448047" cy="2323828"/>
            </a:xfrm>
            <a:prstGeom prst="rect">
              <a:avLst/>
            </a:prstGeom>
          </p:spPr>
          <p:txBody>
            <a:bodyPr anchor="ctr" rtlCol="false" tIns="50800" lIns="50800" bIns="50800" rIns="50800"/>
            <a:lstStyle/>
            <a:p>
              <a:pPr algn="ctr">
                <a:lnSpc>
                  <a:spcPts val="2799"/>
                </a:lnSpc>
              </a:pPr>
            </a:p>
          </p:txBody>
        </p:sp>
      </p:grpSp>
      <p:sp>
        <p:nvSpPr>
          <p:cNvPr name="Freeform 5" id="5"/>
          <p:cNvSpPr/>
          <p:nvPr/>
        </p:nvSpPr>
        <p:spPr>
          <a:xfrm flipH="false" flipV="false" rot="-5400000">
            <a:off x="-792109" y="8595776"/>
            <a:ext cx="2007145" cy="2905078"/>
          </a:xfrm>
          <a:custGeom>
            <a:avLst/>
            <a:gdLst/>
            <a:ahLst/>
            <a:cxnLst/>
            <a:rect r="r" b="b" t="t" l="l"/>
            <a:pathLst>
              <a:path h="2905078" w="2007145">
                <a:moveTo>
                  <a:pt x="0" y="0"/>
                </a:moveTo>
                <a:lnTo>
                  <a:pt x="2007145" y="0"/>
                </a:lnTo>
                <a:lnTo>
                  <a:pt x="2007145" y="2905079"/>
                </a:lnTo>
                <a:lnTo>
                  <a:pt x="0" y="29050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5400000">
            <a:off x="11131478" y="8570649"/>
            <a:ext cx="2007145" cy="2905078"/>
          </a:xfrm>
          <a:custGeom>
            <a:avLst/>
            <a:gdLst/>
            <a:ahLst/>
            <a:cxnLst/>
            <a:rect r="r" b="b" t="t" l="l"/>
            <a:pathLst>
              <a:path h="2905078" w="2007145">
                <a:moveTo>
                  <a:pt x="0" y="0"/>
                </a:moveTo>
                <a:lnTo>
                  <a:pt x="2007145" y="0"/>
                </a:lnTo>
                <a:lnTo>
                  <a:pt x="2007145" y="2905079"/>
                </a:lnTo>
                <a:lnTo>
                  <a:pt x="0" y="29050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5400000">
            <a:off x="3205120" y="8570649"/>
            <a:ext cx="2007145" cy="2905078"/>
          </a:xfrm>
          <a:custGeom>
            <a:avLst/>
            <a:gdLst/>
            <a:ahLst/>
            <a:cxnLst/>
            <a:rect r="r" b="b" t="t" l="l"/>
            <a:pathLst>
              <a:path h="2905078" w="2007145">
                <a:moveTo>
                  <a:pt x="0" y="0"/>
                </a:moveTo>
                <a:lnTo>
                  <a:pt x="2007145" y="0"/>
                </a:lnTo>
                <a:lnTo>
                  <a:pt x="2007145" y="2905079"/>
                </a:lnTo>
                <a:lnTo>
                  <a:pt x="0" y="29050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5400000">
            <a:off x="15128707" y="8545522"/>
            <a:ext cx="2007145" cy="2905078"/>
          </a:xfrm>
          <a:custGeom>
            <a:avLst/>
            <a:gdLst/>
            <a:ahLst/>
            <a:cxnLst/>
            <a:rect r="r" b="b" t="t" l="l"/>
            <a:pathLst>
              <a:path h="2905078" w="2007145">
                <a:moveTo>
                  <a:pt x="0" y="0"/>
                </a:moveTo>
                <a:lnTo>
                  <a:pt x="2007145" y="0"/>
                </a:lnTo>
                <a:lnTo>
                  <a:pt x="2007145" y="2905078"/>
                </a:lnTo>
                <a:lnTo>
                  <a:pt x="0" y="29050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5400000">
            <a:off x="1208939" y="8595776"/>
            <a:ext cx="2007145" cy="2905078"/>
          </a:xfrm>
          <a:custGeom>
            <a:avLst/>
            <a:gdLst/>
            <a:ahLst/>
            <a:cxnLst/>
            <a:rect r="r" b="b" t="t" l="l"/>
            <a:pathLst>
              <a:path h="2905078" w="2007145">
                <a:moveTo>
                  <a:pt x="0" y="0"/>
                </a:moveTo>
                <a:lnTo>
                  <a:pt x="2007145" y="0"/>
                </a:lnTo>
                <a:lnTo>
                  <a:pt x="2007145" y="2905079"/>
                </a:lnTo>
                <a:lnTo>
                  <a:pt x="0" y="29050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5400000">
            <a:off x="13132526" y="8570649"/>
            <a:ext cx="2007145" cy="2905078"/>
          </a:xfrm>
          <a:custGeom>
            <a:avLst/>
            <a:gdLst/>
            <a:ahLst/>
            <a:cxnLst/>
            <a:rect r="r" b="b" t="t" l="l"/>
            <a:pathLst>
              <a:path h="2905078" w="2007145">
                <a:moveTo>
                  <a:pt x="0" y="0"/>
                </a:moveTo>
                <a:lnTo>
                  <a:pt x="2007145" y="0"/>
                </a:lnTo>
                <a:lnTo>
                  <a:pt x="2007145" y="2905079"/>
                </a:lnTo>
                <a:lnTo>
                  <a:pt x="0" y="29050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5400000">
            <a:off x="5206167" y="8570649"/>
            <a:ext cx="2007145" cy="2905078"/>
          </a:xfrm>
          <a:custGeom>
            <a:avLst/>
            <a:gdLst/>
            <a:ahLst/>
            <a:cxnLst/>
            <a:rect r="r" b="b" t="t" l="l"/>
            <a:pathLst>
              <a:path h="2905078" w="2007145">
                <a:moveTo>
                  <a:pt x="0" y="0"/>
                </a:moveTo>
                <a:lnTo>
                  <a:pt x="2007146" y="0"/>
                </a:lnTo>
                <a:lnTo>
                  <a:pt x="2007146" y="2905079"/>
                </a:lnTo>
                <a:lnTo>
                  <a:pt x="0" y="29050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5400000">
            <a:off x="17129754" y="8545522"/>
            <a:ext cx="2007145" cy="2905078"/>
          </a:xfrm>
          <a:custGeom>
            <a:avLst/>
            <a:gdLst/>
            <a:ahLst/>
            <a:cxnLst/>
            <a:rect r="r" b="b" t="t" l="l"/>
            <a:pathLst>
              <a:path h="2905078" w="2007145">
                <a:moveTo>
                  <a:pt x="0" y="0"/>
                </a:moveTo>
                <a:lnTo>
                  <a:pt x="2007146" y="0"/>
                </a:lnTo>
                <a:lnTo>
                  <a:pt x="2007146" y="2905078"/>
                </a:lnTo>
                <a:lnTo>
                  <a:pt x="0" y="29050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5400000">
            <a:off x="7169125" y="8570649"/>
            <a:ext cx="2007145" cy="2905078"/>
          </a:xfrm>
          <a:custGeom>
            <a:avLst/>
            <a:gdLst/>
            <a:ahLst/>
            <a:cxnLst/>
            <a:rect r="r" b="b" t="t" l="l"/>
            <a:pathLst>
              <a:path h="2905078" w="2007145">
                <a:moveTo>
                  <a:pt x="0" y="0"/>
                </a:moveTo>
                <a:lnTo>
                  <a:pt x="2007145" y="0"/>
                </a:lnTo>
                <a:lnTo>
                  <a:pt x="2007145" y="2905079"/>
                </a:lnTo>
                <a:lnTo>
                  <a:pt x="0" y="29050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5400000">
            <a:off x="9170172" y="8570649"/>
            <a:ext cx="2007145" cy="2905078"/>
          </a:xfrm>
          <a:custGeom>
            <a:avLst/>
            <a:gdLst/>
            <a:ahLst/>
            <a:cxnLst/>
            <a:rect r="r" b="b" t="t" l="l"/>
            <a:pathLst>
              <a:path h="2905078" w="2007145">
                <a:moveTo>
                  <a:pt x="0" y="0"/>
                </a:moveTo>
                <a:lnTo>
                  <a:pt x="2007146" y="0"/>
                </a:lnTo>
                <a:lnTo>
                  <a:pt x="2007146" y="2905079"/>
                </a:lnTo>
                <a:lnTo>
                  <a:pt x="0" y="29050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11218488" y="2615753"/>
            <a:ext cx="5143118" cy="5320467"/>
          </a:xfrm>
          <a:custGeom>
            <a:avLst/>
            <a:gdLst/>
            <a:ahLst/>
            <a:cxnLst/>
            <a:rect r="r" b="b" t="t" l="l"/>
            <a:pathLst>
              <a:path h="5320467" w="5143118">
                <a:moveTo>
                  <a:pt x="0" y="0"/>
                </a:moveTo>
                <a:lnTo>
                  <a:pt x="5143118" y="0"/>
                </a:lnTo>
                <a:lnTo>
                  <a:pt x="5143118" y="5320467"/>
                </a:lnTo>
                <a:lnTo>
                  <a:pt x="0" y="5320467"/>
                </a:lnTo>
                <a:lnTo>
                  <a:pt x="0" y="0"/>
                </a:lnTo>
                <a:close/>
              </a:path>
            </a:pathLst>
          </a:custGeom>
          <a:blipFill>
            <a:blip r:embed="rId4"/>
            <a:stretch>
              <a:fillRect l="0" t="0" r="0" b="0"/>
            </a:stretch>
          </a:blipFill>
        </p:spPr>
      </p:sp>
      <p:sp>
        <p:nvSpPr>
          <p:cNvPr name="Freeform 16" id="16"/>
          <p:cNvSpPr/>
          <p:nvPr/>
        </p:nvSpPr>
        <p:spPr>
          <a:xfrm flipH="false" flipV="false" rot="0">
            <a:off x="1189853" y="4260403"/>
            <a:ext cx="7954147" cy="3088342"/>
          </a:xfrm>
          <a:custGeom>
            <a:avLst/>
            <a:gdLst/>
            <a:ahLst/>
            <a:cxnLst/>
            <a:rect r="r" b="b" t="t" l="l"/>
            <a:pathLst>
              <a:path h="3088342" w="7954147">
                <a:moveTo>
                  <a:pt x="0" y="0"/>
                </a:moveTo>
                <a:lnTo>
                  <a:pt x="7954147" y="0"/>
                </a:lnTo>
                <a:lnTo>
                  <a:pt x="7954147" y="3088342"/>
                </a:lnTo>
                <a:lnTo>
                  <a:pt x="0" y="3088342"/>
                </a:lnTo>
                <a:lnTo>
                  <a:pt x="0" y="0"/>
                </a:lnTo>
                <a:close/>
              </a:path>
            </a:pathLst>
          </a:custGeom>
          <a:blipFill>
            <a:blip r:embed="rId5"/>
            <a:stretch>
              <a:fillRect l="0" t="0" r="0" b="0"/>
            </a:stretch>
          </a:blipFill>
        </p:spPr>
      </p:sp>
      <p:sp>
        <p:nvSpPr>
          <p:cNvPr name="TextBox 17" id="17"/>
          <p:cNvSpPr txBox="true"/>
          <p:nvPr/>
        </p:nvSpPr>
        <p:spPr>
          <a:xfrm rot="0">
            <a:off x="979301" y="904875"/>
            <a:ext cx="6189037" cy="1080135"/>
          </a:xfrm>
          <a:prstGeom prst="rect">
            <a:avLst/>
          </a:prstGeom>
        </p:spPr>
        <p:txBody>
          <a:bodyPr anchor="t" rtlCol="false" tIns="0" lIns="0" bIns="0" rIns="0">
            <a:spAutoFit/>
          </a:bodyPr>
          <a:lstStyle/>
          <a:p>
            <a:pPr algn="l" marL="0" indent="0" lvl="0">
              <a:lnSpc>
                <a:spcPts val="6930"/>
              </a:lnSpc>
              <a:spcBef>
                <a:spcPct val="0"/>
              </a:spcBef>
            </a:pPr>
            <a:r>
              <a:rPr lang="en-US" b="true" sz="6300">
                <a:solidFill>
                  <a:srgbClr val="0B0A0A"/>
                </a:solidFill>
                <a:latin typeface="Agrandir Bold"/>
                <a:ea typeface="Agrandir Bold"/>
                <a:cs typeface="Agrandir Bold"/>
                <a:sym typeface="Agrandir Bold"/>
              </a:rPr>
              <a:t>Our Final</a:t>
            </a:r>
            <a:r>
              <a:rPr lang="en-US" b="true" sz="6300" strike="noStrike" u="none">
                <a:solidFill>
                  <a:srgbClr val="0B0A0A"/>
                </a:solidFill>
                <a:latin typeface="Agrandir Bold"/>
                <a:ea typeface="Agrandir Bold"/>
                <a:cs typeface="Agrandir Bold"/>
                <a:sym typeface="Agrandir Bold"/>
              </a:rPr>
              <a:t> Model</a:t>
            </a:r>
          </a:p>
        </p:txBody>
      </p:sp>
      <p:sp>
        <p:nvSpPr>
          <p:cNvPr name="TextBox 18" id="18"/>
          <p:cNvSpPr txBox="true"/>
          <p:nvPr/>
        </p:nvSpPr>
        <p:spPr>
          <a:xfrm rot="0">
            <a:off x="708252" y="2558603"/>
            <a:ext cx="9127283" cy="1416050"/>
          </a:xfrm>
          <a:prstGeom prst="rect">
            <a:avLst/>
          </a:prstGeom>
        </p:spPr>
        <p:txBody>
          <a:bodyPr anchor="t" rtlCol="false" tIns="0" lIns="0" bIns="0" rIns="0">
            <a:spAutoFit/>
          </a:bodyPr>
          <a:lstStyle/>
          <a:p>
            <a:pPr algn="just">
              <a:lnSpc>
                <a:spcPts val="2799"/>
              </a:lnSpc>
              <a:spcBef>
                <a:spcPct val="0"/>
              </a:spcBef>
            </a:pPr>
            <a:r>
              <a:rPr lang="en-US" sz="1999" i="true">
                <a:solidFill>
                  <a:srgbClr val="0B0A0A"/>
                </a:solidFill>
                <a:latin typeface="Poppins Italics"/>
                <a:ea typeface="Poppins Italics"/>
                <a:cs typeface="Poppins Italics"/>
                <a:sym typeface="Poppins Italics"/>
              </a:rPr>
              <a:t>Logistic Regression</a:t>
            </a:r>
            <a:r>
              <a:rPr lang="en-US" sz="1999">
                <a:solidFill>
                  <a:srgbClr val="0B0A0A"/>
                </a:solidFill>
                <a:latin typeface="Poppins"/>
                <a:ea typeface="Poppins"/>
                <a:cs typeface="Poppins"/>
                <a:sym typeface="Poppins"/>
              </a:rPr>
              <a:t> dipilih karena memberikan performa tertinggi dibandingkan Multinomial NB dan KNN, serta memberikan kemudahan interpretasi koefisien risiko. Berdasarkan hasil pengujian pada data test (20% dari dataset): </a:t>
            </a:r>
          </a:p>
        </p:txBody>
      </p:sp>
      <p:sp>
        <p:nvSpPr>
          <p:cNvPr name="TextBox 19" id="19"/>
          <p:cNvSpPr txBox="true"/>
          <p:nvPr/>
        </p:nvSpPr>
        <p:spPr>
          <a:xfrm rot="0">
            <a:off x="969604" y="7623793"/>
            <a:ext cx="8865931" cy="1063625"/>
          </a:xfrm>
          <a:prstGeom prst="rect">
            <a:avLst/>
          </a:prstGeom>
        </p:spPr>
        <p:txBody>
          <a:bodyPr anchor="t" rtlCol="false" tIns="0" lIns="0" bIns="0" rIns="0">
            <a:spAutoFit/>
          </a:bodyPr>
          <a:lstStyle/>
          <a:p>
            <a:pPr algn="just">
              <a:lnSpc>
                <a:spcPts val="2799"/>
              </a:lnSpc>
              <a:spcBef>
                <a:spcPct val="0"/>
              </a:spcBef>
            </a:pPr>
            <a:r>
              <a:rPr lang="en-US" sz="1999">
                <a:solidFill>
                  <a:srgbClr val="0B0A0A"/>
                </a:solidFill>
                <a:latin typeface="Poppins"/>
                <a:ea typeface="Poppins"/>
                <a:cs typeface="Poppins"/>
                <a:sym typeface="Poppins"/>
              </a:rPr>
              <a:t>Model memiliki Precision sebesar 0.99 untuk kelas 0, artinya model sangat jarang salah saat menandai seseorang sebagai risiko tinggi (minim False Positive).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AutoShape 2" id="2"/>
          <p:cNvSpPr/>
          <p:nvPr/>
        </p:nvSpPr>
        <p:spPr>
          <a:xfrm flipV="true">
            <a:off x="1028700" y="2903519"/>
            <a:ext cx="2577157" cy="0"/>
          </a:xfrm>
          <a:prstGeom prst="line">
            <a:avLst/>
          </a:prstGeom>
          <a:ln cap="rnd" w="38100">
            <a:solidFill>
              <a:srgbClr val="0B0A0A">
                <a:alpha val="40000"/>
              </a:srgbClr>
            </a:solidFill>
            <a:prstDash val="solid"/>
            <a:headEnd type="none" len="sm" w="sm"/>
            <a:tailEnd type="none" len="sm" w="sm"/>
          </a:ln>
        </p:spPr>
      </p:sp>
      <p:grpSp>
        <p:nvGrpSpPr>
          <p:cNvPr name="Group 3" id="3"/>
          <p:cNvGrpSpPr/>
          <p:nvPr/>
        </p:nvGrpSpPr>
        <p:grpSpPr>
          <a:xfrm rot="5400000">
            <a:off x="13563155" y="-3741543"/>
            <a:ext cx="1784056" cy="9659894"/>
            <a:chOff x="0" y="0"/>
            <a:chExt cx="469875" cy="2544170"/>
          </a:xfrm>
        </p:grpSpPr>
        <p:sp>
          <p:nvSpPr>
            <p:cNvPr name="Freeform 4" id="4"/>
            <p:cNvSpPr/>
            <p:nvPr/>
          </p:nvSpPr>
          <p:spPr>
            <a:xfrm flipH="false" flipV="false" rot="0">
              <a:off x="0" y="0"/>
              <a:ext cx="469875" cy="2544170"/>
            </a:xfrm>
            <a:custGeom>
              <a:avLst/>
              <a:gdLst/>
              <a:ahLst/>
              <a:cxnLst/>
              <a:rect r="r" b="b" t="t" l="l"/>
              <a:pathLst>
                <a:path h="2544170" w="469875">
                  <a:moveTo>
                    <a:pt x="234937" y="0"/>
                  </a:moveTo>
                  <a:lnTo>
                    <a:pt x="234937" y="0"/>
                  </a:lnTo>
                  <a:cubicBezTo>
                    <a:pt x="297247" y="0"/>
                    <a:pt x="357004" y="24752"/>
                    <a:pt x="401063" y="68812"/>
                  </a:cubicBezTo>
                  <a:cubicBezTo>
                    <a:pt x="445123" y="112871"/>
                    <a:pt x="469875" y="172628"/>
                    <a:pt x="469875" y="234937"/>
                  </a:cubicBezTo>
                  <a:lnTo>
                    <a:pt x="469875" y="2309232"/>
                  </a:lnTo>
                  <a:cubicBezTo>
                    <a:pt x="469875" y="2371541"/>
                    <a:pt x="445123" y="2431299"/>
                    <a:pt x="401063" y="2475358"/>
                  </a:cubicBezTo>
                  <a:cubicBezTo>
                    <a:pt x="357004" y="2519417"/>
                    <a:pt x="297247" y="2544170"/>
                    <a:pt x="234937" y="2544170"/>
                  </a:cubicBezTo>
                  <a:lnTo>
                    <a:pt x="234937" y="2544170"/>
                  </a:lnTo>
                  <a:cubicBezTo>
                    <a:pt x="172628" y="2544170"/>
                    <a:pt x="112871" y="2519417"/>
                    <a:pt x="68812" y="2475358"/>
                  </a:cubicBezTo>
                  <a:cubicBezTo>
                    <a:pt x="24752" y="2431299"/>
                    <a:pt x="0" y="2371541"/>
                    <a:pt x="0" y="2309232"/>
                  </a:cubicBezTo>
                  <a:lnTo>
                    <a:pt x="0" y="234937"/>
                  </a:lnTo>
                  <a:cubicBezTo>
                    <a:pt x="0" y="172628"/>
                    <a:pt x="24752" y="112871"/>
                    <a:pt x="68812" y="68812"/>
                  </a:cubicBezTo>
                  <a:cubicBezTo>
                    <a:pt x="112871" y="24752"/>
                    <a:pt x="172628" y="0"/>
                    <a:pt x="234937" y="0"/>
                  </a:cubicBezTo>
                  <a:close/>
                </a:path>
              </a:pathLst>
            </a:custGeom>
            <a:gradFill rotWithShape="true">
              <a:gsLst>
                <a:gs pos="0">
                  <a:srgbClr val="DBED92">
                    <a:alpha val="100000"/>
                  </a:srgbClr>
                </a:gs>
                <a:gs pos="100000">
                  <a:srgbClr val="89D957">
                    <a:alpha val="100000"/>
                  </a:srgbClr>
                </a:gs>
              </a:gsLst>
              <a:lin ang="2700000"/>
            </a:gradFill>
          </p:spPr>
        </p:sp>
        <p:sp>
          <p:nvSpPr>
            <p:cNvPr name="TextBox 5" id="5"/>
            <p:cNvSpPr txBox="true"/>
            <p:nvPr/>
          </p:nvSpPr>
          <p:spPr>
            <a:xfrm>
              <a:off x="0" y="-57150"/>
              <a:ext cx="469875" cy="2601320"/>
            </a:xfrm>
            <a:prstGeom prst="rect">
              <a:avLst/>
            </a:prstGeom>
          </p:spPr>
          <p:txBody>
            <a:bodyPr anchor="ctr" rtlCol="false" tIns="50800" lIns="50800" bIns="50800" rIns="50800"/>
            <a:lstStyle/>
            <a:p>
              <a:pPr algn="ctr">
                <a:lnSpc>
                  <a:spcPts val="2799"/>
                </a:lnSpc>
              </a:pPr>
            </a:p>
          </p:txBody>
        </p:sp>
      </p:grpSp>
      <p:sp>
        <p:nvSpPr>
          <p:cNvPr name="TextBox 6" id="6"/>
          <p:cNvSpPr txBox="true"/>
          <p:nvPr/>
        </p:nvSpPr>
        <p:spPr>
          <a:xfrm rot="0">
            <a:off x="10274691" y="217745"/>
            <a:ext cx="6378541" cy="1678305"/>
          </a:xfrm>
          <a:prstGeom prst="rect">
            <a:avLst/>
          </a:prstGeom>
        </p:spPr>
        <p:txBody>
          <a:bodyPr anchor="t" rtlCol="false" tIns="0" lIns="0" bIns="0" rIns="0">
            <a:spAutoFit/>
          </a:bodyPr>
          <a:lstStyle/>
          <a:p>
            <a:pPr algn="l" marL="0" indent="0" lvl="0">
              <a:lnSpc>
                <a:spcPts val="5940"/>
              </a:lnSpc>
              <a:spcBef>
                <a:spcPct val="0"/>
              </a:spcBef>
            </a:pPr>
            <a:r>
              <a:rPr lang="en-US" b="true" sz="5400">
                <a:solidFill>
                  <a:srgbClr val="0B0A0A"/>
                </a:solidFill>
                <a:latin typeface="Agrandir Bold"/>
                <a:ea typeface="Agrandir Bold"/>
                <a:cs typeface="Agrandir Bold"/>
                <a:sym typeface="Agrandir Bold"/>
              </a:rPr>
              <a:t>Rekomendasi</a:t>
            </a:r>
            <a:r>
              <a:rPr lang="en-US" b="true" sz="5400" strike="noStrike" u="none">
                <a:solidFill>
                  <a:srgbClr val="0B0A0A"/>
                </a:solidFill>
                <a:latin typeface="Agrandir Bold"/>
                <a:ea typeface="Agrandir Bold"/>
                <a:cs typeface="Agrandir Bold"/>
                <a:sym typeface="Agrandir Bold"/>
              </a:rPr>
              <a:t> dan Kesimpulan</a:t>
            </a:r>
          </a:p>
        </p:txBody>
      </p:sp>
      <p:sp>
        <p:nvSpPr>
          <p:cNvPr name="Freeform 7" id="7"/>
          <p:cNvSpPr/>
          <p:nvPr/>
        </p:nvSpPr>
        <p:spPr>
          <a:xfrm flipH="false" flipV="false" rot="-5400000">
            <a:off x="-792109" y="8595776"/>
            <a:ext cx="2007145" cy="2905078"/>
          </a:xfrm>
          <a:custGeom>
            <a:avLst/>
            <a:gdLst/>
            <a:ahLst/>
            <a:cxnLst/>
            <a:rect r="r" b="b" t="t" l="l"/>
            <a:pathLst>
              <a:path h="2905078" w="2007145">
                <a:moveTo>
                  <a:pt x="0" y="0"/>
                </a:moveTo>
                <a:lnTo>
                  <a:pt x="2007145" y="0"/>
                </a:lnTo>
                <a:lnTo>
                  <a:pt x="2007145" y="2905079"/>
                </a:lnTo>
                <a:lnTo>
                  <a:pt x="0" y="29050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5400000">
            <a:off x="11131478" y="8570649"/>
            <a:ext cx="2007145" cy="2905078"/>
          </a:xfrm>
          <a:custGeom>
            <a:avLst/>
            <a:gdLst/>
            <a:ahLst/>
            <a:cxnLst/>
            <a:rect r="r" b="b" t="t" l="l"/>
            <a:pathLst>
              <a:path h="2905078" w="2007145">
                <a:moveTo>
                  <a:pt x="0" y="0"/>
                </a:moveTo>
                <a:lnTo>
                  <a:pt x="2007145" y="0"/>
                </a:lnTo>
                <a:lnTo>
                  <a:pt x="2007145" y="2905079"/>
                </a:lnTo>
                <a:lnTo>
                  <a:pt x="0" y="29050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5400000">
            <a:off x="3205120" y="8570649"/>
            <a:ext cx="2007145" cy="2905078"/>
          </a:xfrm>
          <a:custGeom>
            <a:avLst/>
            <a:gdLst/>
            <a:ahLst/>
            <a:cxnLst/>
            <a:rect r="r" b="b" t="t" l="l"/>
            <a:pathLst>
              <a:path h="2905078" w="2007145">
                <a:moveTo>
                  <a:pt x="0" y="0"/>
                </a:moveTo>
                <a:lnTo>
                  <a:pt x="2007145" y="0"/>
                </a:lnTo>
                <a:lnTo>
                  <a:pt x="2007145" y="2905079"/>
                </a:lnTo>
                <a:lnTo>
                  <a:pt x="0" y="29050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5400000">
            <a:off x="15128707" y="8545522"/>
            <a:ext cx="2007145" cy="2905078"/>
          </a:xfrm>
          <a:custGeom>
            <a:avLst/>
            <a:gdLst/>
            <a:ahLst/>
            <a:cxnLst/>
            <a:rect r="r" b="b" t="t" l="l"/>
            <a:pathLst>
              <a:path h="2905078" w="2007145">
                <a:moveTo>
                  <a:pt x="0" y="0"/>
                </a:moveTo>
                <a:lnTo>
                  <a:pt x="2007145" y="0"/>
                </a:lnTo>
                <a:lnTo>
                  <a:pt x="2007145" y="2905078"/>
                </a:lnTo>
                <a:lnTo>
                  <a:pt x="0" y="29050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5400000">
            <a:off x="1208939" y="8595776"/>
            <a:ext cx="2007145" cy="2905078"/>
          </a:xfrm>
          <a:custGeom>
            <a:avLst/>
            <a:gdLst/>
            <a:ahLst/>
            <a:cxnLst/>
            <a:rect r="r" b="b" t="t" l="l"/>
            <a:pathLst>
              <a:path h="2905078" w="2007145">
                <a:moveTo>
                  <a:pt x="0" y="0"/>
                </a:moveTo>
                <a:lnTo>
                  <a:pt x="2007145" y="0"/>
                </a:lnTo>
                <a:lnTo>
                  <a:pt x="2007145" y="2905079"/>
                </a:lnTo>
                <a:lnTo>
                  <a:pt x="0" y="29050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5400000">
            <a:off x="13132526" y="8570649"/>
            <a:ext cx="2007145" cy="2905078"/>
          </a:xfrm>
          <a:custGeom>
            <a:avLst/>
            <a:gdLst/>
            <a:ahLst/>
            <a:cxnLst/>
            <a:rect r="r" b="b" t="t" l="l"/>
            <a:pathLst>
              <a:path h="2905078" w="2007145">
                <a:moveTo>
                  <a:pt x="0" y="0"/>
                </a:moveTo>
                <a:lnTo>
                  <a:pt x="2007145" y="0"/>
                </a:lnTo>
                <a:lnTo>
                  <a:pt x="2007145" y="2905079"/>
                </a:lnTo>
                <a:lnTo>
                  <a:pt x="0" y="29050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5400000">
            <a:off x="5206167" y="8570649"/>
            <a:ext cx="2007145" cy="2905078"/>
          </a:xfrm>
          <a:custGeom>
            <a:avLst/>
            <a:gdLst/>
            <a:ahLst/>
            <a:cxnLst/>
            <a:rect r="r" b="b" t="t" l="l"/>
            <a:pathLst>
              <a:path h="2905078" w="2007145">
                <a:moveTo>
                  <a:pt x="0" y="0"/>
                </a:moveTo>
                <a:lnTo>
                  <a:pt x="2007146" y="0"/>
                </a:lnTo>
                <a:lnTo>
                  <a:pt x="2007146" y="2905079"/>
                </a:lnTo>
                <a:lnTo>
                  <a:pt x="0" y="29050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5400000">
            <a:off x="17129754" y="8545522"/>
            <a:ext cx="2007145" cy="2905078"/>
          </a:xfrm>
          <a:custGeom>
            <a:avLst/>
            <a:gdLst/>
            <a:ahLst/>
            <a:cxnLst/>
            <a:rect r="r" b="b" t="t" l="l"/>
            <a:pathLst>
              <a:path h="2905078" w="2007145">
                <a:moveTo>
                  <a:pt x="0" y="0"/>
                </a:moveTo>
                <a:lnTo>
                  <a:pt x="2007146" y="0"/>
                </a:lnTo>
                <a:lnTo>
                  <a:pt x="2007146" y="2905078"/>
                </a:lnTo>
                <a:lnTo>
                  <a:pt x="0" y="29050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5400000">
            <a:off x="7169125" y="8570649"/>
            <a:ext cx="2007145" cy="2905078"/>
          </a:xfrm>
          <a:custGeom>
            <a:avLst/>
            <a:gdLst/>
            <a:ahLst/>
            <a:cxnLst/>
            <a:rect r="r" b="b" t="t" l="l"/>
            <a:pathLst>
              <a:path h="2905078" w="2007145">
                <a:moveTo>
                  <a:pt x="0" y="0"/>
                </a:moveTo>
                <a:lnTo>
                  <a:pt x="2007145" y="0"/>
                </a:lnTo>
                <a:lnTo>
                  <a:pt x="2007145" y="2905079"/>
                </a:lnTo>
                <a:lnTo>
                  <a:pt x="0" y="29050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5400000">
            <a:off x="9170172" y="8570649"/>
            <a:ext cx="2007145" cy="2905078"/>
          </a:xfrm>
          <a:custGeom>
            <a:avLst/>
            <a:gdLst/>
            <a:ahLst/>
            <a:cxnLst/>
            <a:rect r="r" b="b" t="t" l="l"/>
            <a:pathLst>
              <a:path h="2905078" w="2007145">
                <a:moveTo>
                  <a:pt x="0" y="0"/>
                </a:moveTo>
                <a:lnTo>
                  <a:pt x="2007146" y="0"/>
                </a:lnTo>
                <a:lnTo>
                  <a:pt x="2007146" y="2905079"/>
                </a:lnTo>
                <a:lnTo>
                  <a:pt x="0" y="29050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7" id="17"/>
          <p:cNvSpPr txBox="true"/>
          <p:nvPr/>
        </p:nvSpPr>
        <p:spPr>
          <a:xfrm rot="0">
            <a:off x="1059446" y="2241656"/>
            <a:ext cx="2710372" cy="559435"/>
          </a:xfrm>
          <a:prstGeom prst="rect">
            <a:avLst/>
          </a:prstGeom>
        </p:spPr>
        <p:txBody>
          <a:bodyPr anchor="t" rtlCol="false" tIns="0" lIns="0" bIns="0" rIns="0">
            <a:spAutoFit/>
          </a:bodyPr>
          <a:lstStyle/>
          <a:p>
            <a:pPr algn="l">
              <a:lnSpc>
                <a:spcPts val="4339"/>
              </a:lnSpc>
              <a:spcBef>
                <a:spcPct val="0"/>
              </a:spcBef>
            </a:pPr>
            <a:r>
              <a:rPr lang="en-US" b="true" sz="3099">
                <a:solidFill>
                  <a:srgbClr val="0B0A0A"/>
                </a:solidFill>
                <a:latin typeface="Poppins Bold"/>
                <a:ea typeface="Poppins Bold"/>
                <a:cs typeface="Poppins Bold"/>
                <a:sym typeface="Poppins Bold"/>
              </a:rPr>
              <a:t>Kesimpulan</a:t>
            </a:r>
          </a:p>
        </p:txBody>
      </p:sp>
      <p:sp>
        <p:nvSpPr>
          <p:cNvPr name="TextBox 18" id="18"/>
          <p:cNvSpPr txBox="true"/>
          <p:nvPr/>
        </p:nvSpPr>
        <p:spPr>
          <a:xfrm rot="0">
            <a:off x="1028700" y="3217844"/>
            <a:ext cx="14018322" cy="711200"/>
          </a:xfrm>
          <a:prstGeom prst="rect">
            <a:avLst/>
          </a:prstGeom>
        </p:spPr>
        <p:txBody>
          <a:bodyPr anchor="t" rtlCol="false" tIns="0" lIns="0" bIns="0" rIns="0">
            <a:spAutoFit/>
          </a:bodyPr>
          <a:lstStyle/>
          <a:p>
            <a:pPr algn="just">
              <a:lnSpc>
                <a:spcPts val="2799"/>
              </a:lnSpc>
              <a:spcBef>
                <a:spcPct val="0"/>
              </a:spcBef>
            </a:pPr>
            <a:r>
              <a:rPr lang="en-US" sz="1999">
                <a:solidFill>
                  <a:srgbClr val="0B0A0A"/>
                </a:solidFill>
                <a:latin typeface="Poppins"/>
                <a:ea typeface="Poppins"/>
                <a:cs typeface="Poppins"/>
                <a:sym typeface="Poppins"/>
              </a:rPr>
              <a:t>Model </a:t>
            </a:r>
            <a:r>
              <a:rPr lang="en-US" sz="1999" i="true">
                <a:solidFill>
                  <a:srgbClr val="0B0A0A"/>
                </a:solidFill>
                <a:latin typeface="Poppins Italics"/>
                <a:ea typeface="Poppins Italics"/>
                <a:cs typeface="Poppins Italics"/>
                <a:sym typeface="Poppins Italics"/>
              </a:rPr>
              <a:t>Logistic Regression </a:t>
            </a:r>
            <a:r>
              <a:rPr lang="en-US" sz="1999">
                <a:solidFill>
                  <a:srgbClr val="0B0A0A"/>
                </a:solidFill>
                <a:latin typeface="Poppins"/>
                <a:ea typeface="Poppins"/>
                <a:cs typeface="Poppins"/>
                <a:sym typeface="Poppins"/>
              </a:rPr>
              <a:t>yang dikembangkan sangat handal dengan skor </a:t>
            </a:r>
            <a:r>
              <a:rPr lang="en-US" b="true" sz="1999">
                <a:solidFill>
                  <a:srgbClr val="0B0A0A"/>
                </a:solidFill>
                <a:latin typeface="Poppins Bold"/>
                <a:ea typeface="Poppins Bold"/>
                <a:cs typeface="Poppins Bold"/>
                <a:sym typeface="Poppins Bold"/>
              </a:rPr>
              <a:t>ROC AUC 0.95</a:t>
            </a:r>
            <a:r>
              <a:rPr lang="en-US" sz="1999">
                <a:solidFill>
                  <a:srgbClr val="0B0A0A"/>
                </a:solidFill>
                <a:latin typeface="Poppins"/>
                <a:ea typeface="Poppins"/>
                <a:cs typeface="Poppins"/>
                <a:sym typeface="Poppins"/>
              </a:rPr>
              <a:t>, yang berarti model memiliki kemampuan </a:t>
            </a:r>
            <a:r>
              <a:rPr lang="en-US" b="true" sz="1999">
                <a:solidFill>
                  <a:srgbClr val="0B0A0A"/>
                </a:solidFill>
                <a:latin typeface="Poppins Bold"/>
                <a:ea typeface="Poppins Bold"/>
                <a:cs typeface="Poppins Bold"/>
                <a:sym typeface="Poppins Bold"/>
              </a:rPr>
              <a:t>95%</a:t>
            </a:r>
            <a:r>
              <a:rPr lang="en-US" sz="1999">
                <a:solidFill>
                  <a:srgbClr val="0B0A0A"/>
                </a:solidFill>
                <a:latin typeface="Poppins"/>
                <a:ea typeface="Poppins"/>
                <a:cs typeface="Poppins"/>
                <a:sym typeface="Poppins"/>
              </a:rPr>
              <a:t> untuk membedakan nasabah yang gagal bayar dan yang tidak. </a:t>
            </a:r>
          </a:p>
        </p:txBody>
      </p:sp>
      <p:sp>
        <p:nvSpPr>
          <p:cNvPr name="AutoShape 19" id="19"/>
          <p:cNvSpPr/>
          <p:nvPr/>
        </p:nvSpPr>
        <p:spPr>
          <a:xfrm>
            <a:off x="1028700" y="4848082"/>
            <a:ext cx="4812939" cy="0"/>
          </a:xfrm>
          <a:prstGeom prst="line">
            <a:avLst/>
          </a:prstGeom>
          <a:ln cap="rnd" w="38100">
            <a:solidFill>
              <a:srgbClr val="0B0A0A">
                <a:alpha val="40000"/>
              </a:srgbClr>
            </a:solidFill>
            <a:prstDash val="solid"/>
            <a:headEnd type="none" len="sm" w="sm"/>
            <a:tailEnd type="none" len="sm" w="sm"/>
          </a:ln>
        </p:spPr>
      </p:sp>
      <p:sp>
        <p:nvSpPr>
          <p:cNvPr name="TextBox 20" id="20"/>
          <p:cNvSpPr txBox="true"/>
          <p:nvPr/>
        </p:nvSpPr>
        <p:spPr>
          <a:xfrm rot="0">
            <a:off x="1059446" y="4186219"/>
            <a:ext cx="5026852" cy="559435"/>
          </a:xfrm>
          <a:prstGeom prst="rect">
            <a:avLst/>
          </a:prstGeom>
        </p:spPr>
        <p:txBody>
          <a:bodyPr anchor="t" rtlCol="false" tIns="0" lIns="0" bIns="0" rIns="0">
            <a:spAutoFit/>
          </a:bodyPr>
          <a:lstStyle/>
          <a:p>
            <a:pPr algn="l">
              <a:lnSpc>
                <a:spcPts val="4339"/>
              </a:lnSpc>
              <a:spcBef>
                <a:spcPct val="0"/>
              </a:spcBef>
            </a:pPr>
            <a:r>
              <a:rPr lang="en-US" b="true" sz="3099">
                <a:solidFill>
                  <a:srgbClr val="0B0A0A"/>
                </a:solidFill>
                <a:latin typeface="Poppins Bold"/>
                <a:ea typeface="Poppins Bold"/>
                <a:cs typeface="Poppins Bold"/>
                <a:sym typeface="Poppins Bold"/>
              </a:rPr>
              <a:t>Rekomendasi Strategis</a:t>
            </a:r>
          </a:p>
        </p:txBody>
      </p:sp>
      <p:sp>
        <p:nvSpPr>
          <p:cNvPr name="TextBox 21" id="21"/>
          <p:cNvSpPr txBox="true"/>
          <p:nvPr/>
        </p:nvSpPr>
        <p:spPr>
          <a:xfrm rot="0">
            <a:off x="1028700" y="5248132"/>
            <a:ext cx="13853160" cy="2120900"/>
          </a:xfrm>
          <a:prstGeom prst="rect">
            <a:avLst/>
          </a:prstGeom>
        </p:spPr>
        <p:txBody>
          <a:bodyPr anchor="t" rtlCol="false" tIns="0" lIns="0" bIns="0" rIns="0">
            <a:spAutoFit/>
          </a:bodyPr>
          <a:lstStyle/>
          <a:p>
            <a:pPr algn="just" marL="431799" indent="-215899" lvl="1">
              <a:lnSpc>
                <a:spcPts val="2799"/>
              </a:lnSpc>
              <a:buFont typeface="Arial"/>
              <a:buChar char="•"/>
            </a:pPr>
            <a:r>
              <a:rPr lang="en-US" b="true" sz="1999">
                <a:solidFill>
                  <a:srgbClr val="0B0A0A"/>
                </a:solidFill>
                <a:latin typeface="Poppins Bold"/>
                <a:ea typeface="Poppins Bold"/>
                <a:cs typeface="Poppins Bold"/>
                <a:sym typeface="Poppins Bold"/>
              </a:rPr>
              <a:t>Fokus pada Grade B &amp; C </a:t>
            </a:r>
            <a:r>
              <a:rPr lang="en-US" sz="1999">
                <a:solidFill>
                  <a:srgbClr val="0B0A0A"/>
                </a:solidFill>
                <a:latin typeface="Poppins"/>
                <a:ea typeface="Poppins"/>
                <a:cs typeface="Poppins"/>
                <a:sym typeface="Poppins"/>
              </a:rPr>
              <a:t>: Mengingat kelompok ini paling dominan, tim marketing dapat menyesuaikan suku bunga atau promosi khusus untuk menjaga loyalitas nasabah di segmen ini. </a:t>
            </a:r>
          </a:p>
          <a:p>
            <a:pPr algn="just" marL="431799" indent="-215899" lvl="1">
              <a:lnSpc>
                <a:spcPts val="2799"/>
              </a:lnSpc>
              <a:buFont typeface="Arial"/>
              <a:buChar char="•"/>
            </a:pPr>
            <a:r>
              <a:rPr lang="en-US" b="true" sz="1999">
                <a:solidFill>
                  <a:srgbClr val="0B0A0A"/>
                </a:solidFill>
                <a:latin typeface="Poppins Bold"/>
                <a:ea typeface="Poppins Bold"/>
                <a:cs typeface="Poppins Bold"/>
                <a:sym typeface="Poppins Bold"/>
              </a:rPr>
              <a:t>Monitoring Nasabah Non-MORTGAGE </a:t>
            </a:r>
            <a:r>
              <a:rPr lang="en-US" sz="1999">
                <a:solidFill>
                  <a:srgbClr val="0B0A0A"/>
                </a:solidFill>
                <a:latin typeface="Poppins"/>
                <a:ea typeface="Poppins"/>
                <a:cs typeface="Poppins"/>
                <a:sym typeface="Poppins"/>
              </a:rPr>
              <a:t>: Perlu perhatian lebih bagi peminjam dengan status RENT, karena profil mereka mencakup hampir setengah dari populasi peminjam. </a:t>
            </a:r>
          </a:p>
          <a:p>
            <a:pPr algn="just" marL="431799" indent="-215899" lvl="1">
              <a:lnSpc>
                <a:spcPts val="2799"/>
              </a:lnSpc>
              <a:buFont typeface="Arial"/>
              <a:buChar char="•"/>
            </a:pPr>
            <a:r>
              <a:rPr lang="en-US" b="true" sz="1999">
                <a:solidFill>
                  <a:srgbClr val="0B0A0A"/>
                </a:solidFill>
                <a:latin typeface="Poppins Bold"/>
                <a:ea typeface="Poppins Bold"/>
                <a:cs typeface="Poppins Bold"/>
                <a:sym typeface="Poppins Bold"/>
              </a:rPr>
              <a:t>Pemeliharaan Model </a:t>
            </a:r>
            <a:r>
              <a:rPr lang="en-US" sz="1999">
                <a:solidFill>
                  <a:srgbClr val="0B0A0A"/>
                </a:solidFill>
                <a:latin typeface="Poppins"/>
                <a:ea typeface="Poppins"/>
                <a:cs typeface="Poppins"/>
                <a:sym typeface="Poppins"/>
              </a:rPr>
              <a:t>: Disarankan melakukan retraining model setiap 6-12 bulan untuk menyesuaikan dengan kondisi ekonomi terbaru dan pergeseran pola perilaku peminjam.</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grpSp>
        <p:nvGrpSpPr>
          <p:cNvPr name="Group 2" id="2"/>
          <p:cNvGrpSpPr/>
          <p:nvPr/>
        </p:nvGrpSpPr>
        <p:grpSpPr>
          <a:xfrm rot="5400000">
            <a:off x="7705297" y="-722679"/>
            <a:ext cx="2626401" cy="7471976"/>
            <a:chOff x="0" y="0"/>
            <a:chExt cx="585903" cy="1666863"/>
          </a:xfrm>
        </p:grpSpPr>
        <p:sp>
          <p:nvSpPr>
            <p:cNvPr name="Freeform 3" id="3"/>
            <p:cNvSpPr/>
            <p:nvPr/>
          </p:nvSpPr>
          <p:spPr>
            <a:xfrm flipH="false" flipV="false" rot="0">
              <a:off x="0" y="0"/>
              <a:ext cx="585903" cy="1666863"/>
            </a:xfrm>
            <a:custGeom>
              <a:avLst/>
              <a:gdLst/>
              <a:ahLst/>
              <a:cxnLst/>
              <a:rect r="r" b="b" t="t" l="l"/>
              <a:pathLst>
                <a:path h="1666863" w="585903">
                  <a:moveTo>
                    <a:pt x="170968" y="0"/>
                  </a:moveTo>
                  <a:lnTo>
                    <a:pt x="414934" y="0"/>
                  </a:lnTo>
                  <a:cubicBezTo>
                    <a:pt x="509357" y="0"/>
                    <a:pt x="585903" y="76545"/>
                    <a:pt x="585903" y="170968"/>
                  </a:cubicBezTo>
                  <a:lnTo>
                    <a:pt x="585903" y="1495894"/>
                  </a:lnTo>
                  <a:cubicBezTo>
                    <a:pt x="585903" y="1590317"/>
                    <a:pt x="509357" y="1666863"/>
                    <a:pt x="414934" y="1666863"/>
                  </a:cubicBezTo>
                  <a:lnTo>
                    <a:pt x="170968" y="1666863"/>
                  </a:lnTo>
                  <a:cubicBezTo>
                    <a:pt x="76545" y="1666863"/>
                    <a:pt x="0" y="1590317"/>
                    <a:pt x="0" y="1495894"/>
                  </a:cubicBezTo>
                  <a:lnTo>
                    <a:pt x="0" y="170968"/>
                  </a:lnTo>
                  <a:cubicBezTo>
                    <a:pt x="0" y="76545"/>
                    <a:pt x="76545" y="0"/>
                    <a:pt x="170968" y="0"/>
                  </a:cubicBezTo>
                  <a:close/>
                </a:path>
              </a:pathLst>
            </a:custGeom>
            <a:gradFill rotWithShape="true">
              <a:gsLst>
                <a:gs pos="0">
                  <a:srgbClr val="DBED92">
                    <a:alpha val="100000"/>
                  </a:srgbClr>
                </a:gs>
                <a:gs pos="100000">
                  <a:srgbClr val="89D957">
                    <a:alpha val="100000"/>
                  </a:srgbClr>
                </a:gs>
              </a:gsLst>
              <a:lin ang="2700000"/>
            </a:gradFill>
          </p:spPr>
        </p:sp>
        <p:sp>
          <p:nvSpPr>
            <p:cNvPr name="TextBox 4" id="4"/>
            <p:cNvSpPr txBox="true"/>
            <p:nvPr/>
          </p:nvSpPr>
          <p:spPr>
            <a:xfrm>
              <a:off x="0" y="-57150"/>
              <a:ext cx="585903" cy="1724013"/>
            </a:xfrm>
            <a:prstGeom prst="rect">
              <a:avLst/>
            </a:prstGeom>
          </p:spPr>
          <p:txBody>
            <a:bodyPr anchor="ctr" rtlCol="false" tIns="50800" lIns="50800" bIns="50800" rIns="50800"/>
            <a:lstStyle/>
            <a:p>
              <a:pPr algn="ctr">
                <a:lnSpc>
                  <a:spcPts val="2799"/>
                </a:lnSpc>
              </a:pPr>
            </a:p>
          </p:txBody>
        </p:sp>
      </p:grpSp>
      <p:sp>
        <p:nvSpPr>
          <p:cNvPr name="TextBox 5" id="5"/>
          <p:cNvSpPr txBox="true"/>
          <p:nvPr/>
        </p:nvSpPr>
        <p:spPr>
          <a:xfrm rot="0">
            <a:off x="6302119" y="1668906"/>
            <a:ext cx="5432758" cy="2657603"/>
          </a:xfrm>
          <a:prstGeom prst="rect">
            <a:avLst/>
          </a:prstGeom>
        </p:spPr>
        <p:txBody>
          <a:bodyPr anchor="t" rtlCol="false" tIns="0" lIns="0" bIns="0" rIns="0">
            <a:spAutoFit/>
          </a:bodyPr>
          <a:lstStyle/>
          <a:p>
            <a:pPr algn="just">
              <a:lnSpc>
                <a:spcPts val="9633"/>
              </a:lnSpc>
            </a:pPr>
            <a:r>
              <a:rPr lang="en-US" sz="8028" b="true">
                <a:solidFill>
                  <a:srgbClr val="0B0A0A"/>
                </a:solidFill>
                <a:latin typeface="Agrandir Bold"/>
                <a:ea typeface="Agrandir Bold"/>
                <a:cs typeface="Agrandir Bold"/>
                <a:sym typeface="Agrandir Bold"/>
              </a:rPr>
              <a:t>Thank You</a:t>
            </a:r>
          </a:p>
          <a:p>
            <a:pPr algn="just">
              <a:lnSpc>
                <a:spcPts val="9633"/>
              </a:lnSpc>
            </a:pPr>
            <a:r>
              <a:rPr lang="en-US" sz="8028" b="true">
                <a:solidFill>
                  <a:srgbClr val="0B0A0A"/>
                </a:solidFill>
                <a:latin typeface="Agrandir Bold"/>
                <a:ea typeface="Agrandir Bold"/>
                <a:cs typeface="Agrandir Bold"/>
                <a:sym typeface="Agrandir Bold"/>
              </a:rPr>
              <a:t>Very Much</a:t>
            </a:r>
          </a:p>
        </p:txBody>
      </p:sp>
      <p:sp>
        <p:nvSpPr>
          <p:cNvPr name="Freeform 6" id="6"/>
          <p:cNvSpPr/>
          <p:nvPr/>
        </p:nvSpPr>
        <p:spPr>
          <a:xfrm flipH="false" flipV="false" rot="-10800000">
            <a:off x="16255727" y="3013309"/>
            <a:ext cx="2007145" cy="2905078"/>
          </a:xfrm>
          <a:custGeom>
            <a:avLst/>
            <a:gdLst/>
            <a:ahLst/>
            <a:cxnLst/>
            <a:rect r="r" b="b" t="t" l="l"/>
            <a:pathLst>
              <a:path h="2905078" w="2007145">
                <a:moveTo>
                  <a:pt x="0" y="0"/>
                </a:moveTo>
                <a:lnTo>
                  <a:pt x="2007146" y="0"/>
                </a:lnTo>
                <a:lnTo>
                  <a:pt x="2007146" y="2905078"/>
                </a:lnTo>
                <a:lnTo>
                  <a:pt x="0" y="29050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16230600" y="-983920"/>
            <a:ext cx="2007145" cy="2905078"/>
          </a:xfrm>
          <a:custGeom>
            <a:avLst/>
            <a:gdLst/>
            <a:ahLst/>
            <a:cxnLst/>
            <a:rect r="r" b="b" t="t" l="l"/>
            <a:pathLst>
              <a:path h="2905078" w="2007145">
                <a:moveTo>
                  <a:pt x="0" y="0"/>
                </a:moveTo>
                <a:lnTo>
                  <a:pt x="2007145" y="0"/>
                </a:lnTo>
                <a:lnTo>
                  <a:pt x="2007145" y="2905079"/>
                </a:lnTo>
                <a:lnTo>
                  <a:pt x="0" y="29050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10800000">
            <a:off x="16255727" y="1012261"/>
            <a:ext cx="2007145" cy="2905078"/>
          </a:xfrm>
          <a:custGeom>
            <a:avLst/>
            <a:gdLst/>
            <a:ahLst/>
            <a:cxnLst/>
            <a:rect r="r" b="b" t="t" l="l"/>
            <a:pathLst>
              <a:path h="2905078" w="2007145">
                <a:moveTo>
                  <a:pt x="0" y="0"/>
                </a:moveTo>
                <a:lnTo>
                  <a:pt x="2007146" y="0"/>
                </a:lnTo>
                <a:lnTo>
                  <a:pt x="2007146" y="2905079"/>
                </a:lnTo>
                <a:lnTo>
                  <a:pt x="0" y="29050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10800000">
            <a:off x="16255727" y="8938620"/>
            <a:ext cx="2007145" cy="2905078"/>
          </a:xfrm>
          <a:custGeom>
            <a:avLst/>
            <a:gdLst/>
            <a:ahLst/>
            <a:cxnLst/>
            <a:rect r="r" b="b" t="t" l="l"/>
            <a:pathLst>
              <a:path h="2905078" w="2007145">
                <a:moveTo>
                  <a:pt x="0" y="0"/>
                </a:moveTo>
                <a:lnTo>
                  <a:pt x="2007146" y="0"/>
                </a:lnTo>
                <a:lnTo>
                  <a:pt x="2007146" y="2905078"/>
                </a:lnTo>
                <a:lnTo>
                  <a:pt x="0" y="29050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10800000">
            <a:off x="16255727" y="6975662"/>
            <a:ext cx="2007145" cy="2905078"/>
          </a:xfrm>
          <a:custGeom>
            <a:avLst/>
            <a:gdLst/>
            <a:ahLst/>
            <a:cxnLst/>
            <a:rect r="r" b="b" t="t" l="l"/>
            <a:pathLst>
              <a:path h="2905078" w="2007145">
                <a:moveTo>
                  <a:pt x="0" y="0"/>
                </a:moveTo>
                <a:lnTo>
                  <a:pt x="2007146" y="0"/>
                </a:lnTo>
                <a:lnTo>
                  <a:pt x="2007146" y="2905079"/>
                </a:lnTo>
                <a:lnTo>
                  <a:pt x="0" y="29050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10800000">
            <a:off x="16255727" y="4974615"/>
            <a:ext cx="2007145" cy="2905078"/>
          </a:xfrm>
          <a:custGeom>
            <a:avLst/>
            <a:gdLst/>
            <a:ahLst/>
            <a:cxnLst/>
            <a:rect r="r" b="b" t="t" l="l"/>
            <a:pathLst>
              <a:path h="2905078" w="2007145">
                <a:moveTo>
                  <a:pt x="0" y="0"/>
                </a:moveTo>
                <a:lnTo>
                  <a:pt x="2007146" y="0"/>
                </a:lnTo>
                <a:lnTo>
                  <a:pt x="2007146" y="2905078"/>
                </a:lnTo>
                <a:lnTo>
                  <a:pt x="0" y="29050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5509336" y="4690503"/>
            <a:ext cx="7018324" cy="609986"/>
          </a:xfrm>
          <a:prstGeom prst="rect">
            <a:avLst/>
          </a:prstGeom>
        </p:spPr>
        <p:txBody>
          <a:bodyPr anchor="t" rtlCol="false" tIns="0" lIns="0" bIns="0" rIns="0">
            <a:spAutoFit/>
          </a:bodyPr>
          <a:lstStyle/>
          <a:p>
            <a:pPr algn="l">
              <a:lnSpc>
                <a:spcPts val="5056"/>
              </a:lnSpc>
            </a:pPr>
            <a:r>
              <a:rPr lang="en-US" sz="3611" spc="36">
                <a:solidFill>
                  <a:srgbClr val="000000"/>
                </a:solidFill>
                <a:latin typeface="Canva Sans"/>
                <a:ea typeface="Canva Sans"/>
                <a:cs typeface="Canva Sans"/>
                <a:sym typeface="Canva Sans"/>
              </a:rPr>
              <a:t>Referensi &amp; Repositori GitHub</a:t>
            </a:r>
          </a:p>
        </p:txBody>
      </p:sp>
      <p:sp>
        <p:nvSpPr>
          <p:cNvPr name="TextBox 13" id="13"/>
          <p:cNvSpPr txBox="true"/>
          <p:nvPr/>
        </p:nvSpPr>
        <p:spPr>
          <a:xfrm rot="0">
            <a:off x="3250367" y="5659323"/>
            <a:ext cx="11536260" cy="1002369"/>
          </a:xfrm>
          <a:prstGeom prst="rect">
            <a:avLst/>
          </a:prstGeom>
        </p:spPr>
        <p:txBody>
          <a:bodyPr anchor="t" rtlCol="false" tIns="0" lIns="0" bIns="0" rIns="0">
            <a:spAutoFit/>
          </a:bodyPr>
          <a:lstStyle/>
          <a:p>
            <a:pPr algn="ctr">
              <a:lnSpc>
                <a:spcPts val="4076"/>
              </a:lnSpc>
            </a:pPr>
            <a:r>
              <a:rPr lang="en-US" sz="2911" spc="29">
                <a:solidFill>
                  <a:srgbClr val="000000"/>
                </a:solidFill>
                <a:latin typeface="Canva Sans"/>
                <a:ea typeface="Canva Sans"/>
                <a:cs typeface="Canva Sans"/>
                <a:sym typeface="Canva Sans"/>
              </a:rPr>
              <a:t>Detail lebih lanjut dan notebook Python lengkap tersedia di repositori GitHub:</a:t>
            </a:r>
          </a:p>
        </p:txBody>
      </p:sp>
      <p:sp>
        <p:nvSpPr>
          <p:cNvPr name="TextBox 14" id="14"/>
          <p:cNvSpPr txBox="true"/>
          <p:nvPr/>
        </p:nvSpPr>
        <p:spPr>
          <a:xfrm rot="0">
            <a:off x="7495808" y="7014116"/>
            <a:ext cx="3078904" cy="1083014"/>
          </a:xfrm>
          <a:prstGeom prst="rect">
            <a:avLst/>
          </a:prstGeom>
        </p:spPr>
        <p:txBody>
          <a:bodyPr anchor="t" rtlCol="false" tIns="0" lIns="0" bIns="0" rIns="0">
            <a:spAutoFit/>
          </a:bodyPr>
          <a:lstStyle/>
          <a:p>
            <a:pPr algn="ctr">
              <a:lnSpc>
                <a:spcPts val="4356"/>
              </a:lnSpc>
            </a:pPr>
            <a:r>
              <a:rPr lang="en-US" sz="3111" spc="31" u="sng">
                <a:solidFill>
                  <a:srgbClr val="000000"/>
                </a:solidFill>
                <a:latin typeface="Canva Sans"/>
                <a:ea typeface="Canva Sans"/>
                <a:cs typeface="Canva Sans"/>
                <a:sym typeface="Canva Sans"/>
                <a:hlinkClick r:id="rId4" tooltip="https://github.com/Ghozialvin/DS_ID-X-Partners"/>
              </a:rPr>
              <a:t>Dokumentasi Github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DAG8yjD4OWw</dc:identifier>
  <dcterms:modified xsi:type="dcterms:W3CDTF">2011-08-01T06:04:30Z</dcterms:modified>
  <cp:revision>1</cp:revision>
  <dc:title>Pink and Green Playful Investor Pitch Deck Presentation</dc:title>
</cp:coreProperties>
</file>